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2" r:id="rId7"/>
    <p:sldId id="263" r:id="rId8"/>
    <p:sldId id="264" r:id="rId9"/>
    <p:sldId id="265" r:id="rId10"/>
    <p:sldId id="266" r:id="rId11"/>
    <p:sldId id="267" r:id="rId12"/>
    <p:sldId id="268" r:id="rId13"/>
    <p:sldId id="269" r:id="rId14"/>
    <p:sldId id="270" r:id="rId15"/>
    <p:sldId id="274" r:id="rId16"/>
    <p:sldId id="275" r:id="rId17"/>
    <p:sldId id="276" r:id="rId18"/>
    <p:sldId id="277" r:id="rId19"/>
    <p:sldId id="271" r:id="rId20"/>
    <p:sldId id="272" r:id="rId2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3"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p:cNvSpPr>
            <a:spLocks noGrp="1"/>
          </p:cNvSpPr>
          <p:nvPr>
            <p:ph type="dt" sz="half" idx="10"/>
          </p:nvPr>
        </p:nvSpPr>
        <p:spPr/>
        <p:txBody>
          <a:bodyPr/>
          <a:lstStyle/>
          <a:p>
            <a:fld id="{E956585F-79E6-4EEA-9F46-3F42785F0E40}" type="datetimeFigureOut">
              <a:rPr lang="es-CO" smtClean="0"/>
              <a:t>27/02/2024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1637774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E956585F-79E6-4EEA-9F46-3F42785F0E40}" type="datetimeFigureOut">
              <a:rPr lang="es-CO" smtClean="0"/>
              <a:t>27/02/2024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1978129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E956585F-79E6-4EEA-9F46-3F42785F0E40}" type="datetimeFigureOut">
              <a:rPr lang="es-CO" smtClean="0"/>
              <a:t>27/02/2024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69005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E956585F-79E6-4EEA-9F46-3F42785F0E40}" type="datetimeFigureOut">
              <a:rPr lang="es-CO" smtClean="0"/>
              <a:t>27/02/2024</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1169821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E956585F-79E6-4EEA-9F46-3F42785F0E40}" type="datetimeFigureOut">
              <a:rPr lang="es-CO" smtClean="0"/>
              <a:t>27/02/2024</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246274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E956585F-79E6-4EEA-9F46-3F42785F0E40}" type="datetimeFigureOut">
              <a:rPr lang="es-CO" smtClean="0"/>
              <a:t>27/02/2024</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272226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956585F-79E6-4EEA-9F46-3F42785F0E40}" type="datetimeFigureOut">
              <a:rPr lang="es-CO" smtClean="0"/>
              <a:t>27/02/2024</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125629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956585F-79E6-4EEA-9F46-3F42785F0E40}" type="datetimeFigureOut">
              <a:rPr lang="es-CO" smtClean="0"/>
              <a:t>27/02/2024</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4264957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956585F-79E6-4EEA-9F46-3F42785F0E40}" type="datetimeFigureOut">
              <a:rPr lang="es-CO" smtClean="0"/>
              <a:t>27/02/2024</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3205029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E956585F-79E6-4EEA-9F46-3F42785F0E40}" type="datetimeFigureOut">
              <a:rPr lang="es-CO" smtClean="0"/>
              <a:t>27/02/2024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38733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E956585F-79E6-4EEA-9F46-3F42785F0E40}" type="datetimeFigureOut">
              <a:rPr lang="es-CO" smtClean="0"/>
              <a:t>27/02/2024</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3046886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56585F-79E6-4EEA-9F46-3F42785F0E40}" type="datetimeFigureOut">
              <a:rPr lang="es-CO" smtClean="0"/>
              <a:t>27/02/2024</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EFADC1-F790-4C65-A43A-9946135326C8}" type="slidenum">
              <a:rPr lang="es-CO" smtClean="0"/>
              <a:t>‹Nº›</a:t>
            </a:fld>
            <a:endParaRPr lang="es-CO"/>
          </a:p>
        </p:txBody>
      </p:sp>
    </p:spTree>
    <p:extLst>
      <p:ext uri="{BB962C8B-B14F-4D97-AF65-F5344CB8AC3E}">
        <p14:creationId xmlns:p14="http://schemas.microsoft.com/office/powerpoint/2010/main" val="2798008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3999" y="1122363"/>
            <a:ext cx="9144001" cy="2387600"/>
          </a:xfrm>
        </p:spPr>
        <p:txBody>
          <a:bodyPr>
            <a:normAutofit/>
          </a:bodyPr>
          <a:lstStyle/>
          <a:p>
            <a:pPr>
              <a:lnSpc>
                <a:spcPts val="3005"/>
              </a:lnSpc>
              <a:spcBef>
                <a:spcPts val="150"/>
              </a:spcBef>
            </a:pPr>
            <a:r>
              <a:rPr lang="es-CO" sz="3600" spc="0" dirty="0">
                <a:latin typeface="Verdana"/>
                <a:cs typeface="Verdana"/>
              </a:rPr>
              <a:t>Luis Germán Toro Pareja</a:t>
            </a:r>
            <a:br>
              <a:rPr lang="es-CO" sz="3600" dirty="0">
                <a:latin typeface="Verdana"/>
                <a:cs typeface="Verdana"/>
              </a:rPr>
            </a:br>
            <a:r>
              <a:rPr lang="es-CO" sz="2400" spc="0" dirty="0">
                <a:latin typeface="Verdana"/>
                <a:cs typeface="Verdana"/>
              </a:rPr>
              <a:t>Ingeniero de Sistemas</a:t>
            </a:r>
            <a:br>
              <a:rPr lang="es-CO" sz="2400" spc="0" dirty="0">
                <a:latin typeface="Verdana"/>
                <a:cs typeface="Verdana"/>
              </a:rPr>
            </a:br>
            <a:r>
              <a:rPr lang="es-CO" sz="2400" dirty="0">
                <a:latin typeface="Verdana"/>
                <a:cs typeface="Verdana"/>
              </a:rPr>
              <a:t>Magister en Seguridad Informática</a:t>
            </a:r>
            <a:br>
              <a:rPr lang="es-CO" sz="2400" dirty="0">
                <a:latin typeface="Verdana"/>
                <a:cs typeface="Verdana"/>
              </a:rPr>
            </a:br>
            <a:r>
              <a:rPr lang="es-CO" sz="2400" spc="0" dirty="0">
                <a:latin typeface="Verdana"/>
                <a:cs typeface="Verdana"/>
              </a:rPr>
              <a:t>Universidad del</a:t>
            </a:r>
            <a:r>
              <a:rPr lang="es-CO" sz="2400" spc="-29" dirty="0">
                <a:latin typeface="Verdana"/>
                <a:cs typeface="Verdana"/>
              </a:rPr>
              <a:t> </a:t>
            </a:r>
            <a:r>
              <a:rPr lang="es-CO" sz="2400" spc="0" dirty="0">
                <a:latin typeface="Verdana"/>
                <a:cs typeface="Verdana"/>
              </a:rPr>
              <a:t>Valle</a:t>
            </a:r>
            <a:br>
              <a:rPr lang="es-CO" sz="2400" dirty="0">
                <a:latin typeface="Verdana"/>
                <a:cs typeface="Verdana"/>
              </a:rPr>
            </a:br>
            <a:r>
              <a:rPr lang="es-CO" sz="2400" dirty="0">
                <a:latin typeface="Verdana"/>
                <a:cs typeface="Verdana"/>
              </a:rPr>
              <a:t> 	</a:t>
            </a:r>
            <a:endParaRPr lang="es-CO" sz="2400" spc="0" dirty="0">
              <a:latin typeface="Verdana"/>
              <a:cs typeface="Verdana"/>
            </a:endParaRPr>
          </a:p>
        </p:txBody>
      </p:sp>
      <p:sp>
        <p:nvSpPr>
          <p:cNvPr id="3" name="Subtítulo 2"/>
          <p:cNvSpPr>
            <a:spLocks noGrp="1"/>
          </p:cNvSpPr>
          <p:nvPr>
            <p:ph type="subTitle" idx="1"/>
          </p:nvPr>
        </p:nvSpPr>
        <p:spPr>
          <a:xfrm>
            <a:off x="1523999" y="3602038"/>
            <a:ext cx="9144001" cy="1655762"/>
          </a:xfrm>
        </p:spPr>
        <p:txBody>
          <a:bodyPr/>
          <a:lstStyle/>
          <a:p>
            <a:pPr marL="12700">
              <a:lnSpc>
                <a:spcPts val="2590"/>
              </a:lnSpc>
              <a:spcBef>
                <a:spcPts val="129"/>
              </a:spcBef>
            </a:pPr>
            <a:r>
              <a:rPr lang="es-CO" b="1" u="sng" dirty="0">
                <a:latin typeface="Verdana"/>
                <a:cs typeface="Verdana"/>
              </a:rPr>
              <a:t>luis.german.toro@correounivalle.edu.co</a:t>
            </a:r>
            <a:endParaRPr lang="es-CO" u="sng" dirty="0">
              <a:latin typeface="Verdana"/>
              <a:cs typeface="Verdana"/>
            </a:endParaRPr>
          </a:p>
          <a:p>
            <a:endParaRPr lang="es-CO" u="sng" dirty="0"/>
          </a:p>
          <a:p>
            <a:pPr marL="1620755" marR="1634245">
              <a:lnSpc>
                <a:spcPts val="1760"/>
              </a:lnSpc>
              <a:spcBef>
                <a:spcPts val="88"/>
              </a:spcBef>
            </a:pPr>
            <a:r>
              <a:rPr lang="es-CO" sz="1600" b="1" u="sng" spc="4" dirty="0">
                <a:latin typeface="Verdana"/>
                <a:cs typeface="Verdana"/>
              </a:rPr>
              <a:t>U</a:t>
            </a:r>
            <a:r>
              <a:rPr lang="es-CO" sz="1600" b="1" u="sng" spc="0" dirty="0">
                <a:latin typeface="Verdana"/>
                <a:cs typeface="Verdana"/>
              </a:rPr>
              <a:t>ni</a:t>
            </a:r>
            <a:r>
              <a:rPr lang="es-CO" sz="1600" b="1" u="sng" spc="4" dirty="0">
                <a:latin typeface="Verdana"/>
                <a:cs typeface="Verdana"/>
              </a:rPr>
              <a:t>v</a:t>
            </a:r>
            <a:r>
              <a:rPr lang="es-CO" sz="1600" b="1" u="sng" spc="0" dirty="0">
                <a:latin typeface="Verdana"/>
                <a:cs typeface="Verdana"/>
              </a:rPr>
              <a:t>e</a:t>
            </a:r>
            <a:r>
              <a:rPr lang="es-CO" sz="1600" b="1" u="sng" spc="-4" dirty="0">
                <a:latin typeface="Verdana"/>
                <a:cs typeface="Verdana"/>
              </a:rPr>
              <a:t>rs</a:t>
            </a:r>
            <a:r>
              <a:rPr lang="es-CO" sz="1600" b="1" u="sng" spc="4" dirty="0">
                <a:latin typeface="Verdana"/>
                <a:cs typeface="Verdana"/>
              </a:rPr>
              <a:t>id</a:t>
            </a:r>
            <a:r>
              <a:rPr lang="es-CO" sz="1600" b="1" u="sng" spc="0" dirty="0">
                <a:latin typeface="Verdana"/>
                <a:cs typeface="Verdana"/>
              </a:rPr>
              <a:t>ad</a:t>
            </a:r>
            <a:r>
              <a:rPr lang="es-CO" sz="1600" b="1" u="sng" spc="9" dirty="0">
                <a:latin typeface="Verdana"/>
                <a:cs typeface="Verdana"/>
              </a:rPr>
              <a:t> </a:t>
            </a:r>
            <a:r>
              <a:rPr lang="es-CO" sz="1600" b="1" u="sng" spc="4" dirty="0">
                <a:latin typeface="Verdana"/>
                <a:cs typeface="Verdana"/>
              </a:rPr>
              <a:t>d</a:t>
            </a:r>
            <a:r>
              <a:rPr lang="es-CO" sz="1600" b="1" u="sng" spc="0" dirty="0">
                <a:latin typeface="Verdana"/>
                <a:cs typeface="Verdana"/>
              </a:rPr>
              <a:t>el</a:t>
            </a:r>
            <a:r>
              <a:rPr lang="es-CO" sz="1600" b="1" u="sng" spc="9" dirty="0">
                <a:latin typeface="Verdana"/>
                <a:cs typeface="Verdana"/>
              </a:rPr>
              <a:t> </a:t>
            </a:r>
            <a:r>
              <a:rPr lang="es-CO" sz="1600" b="1" u="sng" spc="4" dirty="0">
                <a:latin typeface="Verdana"/>
                <a:cs typeface="Verdana"/>
              </a:rPr>
              <a:t>Val</a:t>
            </a:r>
            <a:r>
              <a:rPr lang="es-CO" sz="1600" b="1" u="sng" spc="0" dirty="0">
                <a:latin typeface="Verdana"/>
                <a:cs typeface="Verdana"/>
              </a:rPr>
              <a:t>le</a:t>
            </a:r>
            <a:endParaRPr lang="es-CO" sz="1600" u="sng" dirty="0">
              <a:latin typeface="Verdana"/>
              <a:cs typeface="Verdana"/>
            </a:endParaRPr>
          </a:p>
          <a:p>
            <a:pPr>
              <a:lnSpc>
                <a:spcPct val="101277"/>
              </a:lnSpc>
              <a:spcBef>
                <a:spcPts val="282"/>
              </a:spcBef>
            </a:pPr>
            <a:r>
              <a:rPr lang="es-CO" sz="1600" b="1" u="sng" spc="0" dirty="0">
                <a:latin typeface="Verdana"/>
                <a:cs typeface="Verdana"/>
              </a:rPr>
              <a:t>Es</a:t>
            </a:r>
            <a:r>
              <a:rPr lang="es-CO" sz="1600" b="1" u="sng" spc="-9" dirty="0">
                <a:latin typeface="Verdana"/>
                <a:cs typeface="Verdana"/>
              </a:rPr>
              <a:t>c</a:t>
            </a:r>
            <a:r>
              <a:rPr lang="es-CO" sz="1600" b="1" u="sng" spc="0" dirty="0">
                <a:latin typeface="Verdana"/>
                <a:cs typeface="Verdana"/>
              </a:rPr>
              <a:t>uela de Ingeniería de Sist</a:t>
            </a:r>
            <a:r>
              <a:rPr lang="es-CO" sz="1600" b="1" u="sng" spc="-9" dirty="0">
                <a:latin typeface="Verdana"/>
                <a:cs typeface="Verdana"/>
              </a:rPr>
              <a:t>e</a:t>
            </a:r>
            <a:r>
              <a:rPr lang="es-CO" sz="1600" b="1" u="sng" spc="-4" dirty="0">
                <a:latin typeface="Verdana"/>
                <a:cs typeface="Verdana"/>
              </a:rPr>
              <a:t>m</a:t>
            </a:r>
            <a:r>
              <a:rPr lang="es-CO" sz="1600" b="1" u="sng" spc="0" dirty="0">
                <a:latin typeface="Verdana"/>
                <a:cs typeface="Verdana"/>
              </a:rPr>
              <a:t>as y Comp</a:t>
            </a:r>
            <a:r>
              <a:rPr lang="es-CO" sz="1600" b="1" u="sng" spc="-4" dirty="0">
                <a:latin typeface="Verdana"/>
                <a:cs typeface="Verdana"/>
              </a:rPr>
              <a:t>ut</a:t>
            </a:r>
            <a:r>
              <a:rPr lang="es-CO" sz="1600" b="1" u="sng" spc="0" dirty="0">
                <a:latin typeface="Verdana"/>
                <a:cs typeface="Verdana"/>
              </a:rPr>
              <a:t>ación</a:t>
            </a:r>
            <a:endParaRPr lang="es-CO" sz="1600" u="sng" dirty="0">
              <a:latin typeface="Verdana"/>
              <a:cs typeface="Verdana"/>
            </a:endParaRPr>
          </a:p>
          <a:p>
            <a:endParaRPr lang="es-CO" u="sng" dirty="0"/>
          </a:p>
        </p:txBody>
      </p:sp>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DOCENTE</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7" name="object 11">
            <a:extLst>
              <a:ext uri="{FF2B5EF4-FFF2-40B4-BE49-F238E27FC236}">
                <a16:creationId xmlns:a16="http://schemas.microsoft.com/office/drawing/2014/main" id="{E5A38F5F-0D28-7A54-6861-BA5F4DC06985}"/>
              </a:ext>
            </a:extLst>
          </p:cNvPr>
          <p:cNvSpPr/>
          <p:nvPr/>
        </p:nvSpPr>
        <p:spPr>
          <a:xfrm flipV="1">
            <a:off x="1524000" y="6020971"/>
            <a:ext cx="9144000" cy="926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Tree>
    <p:extLst>
      <p:ext uri="{BB962C8B-B14F-4D97-AF65-F5344CB8AC3E}">
        <p14:creationId xmlns:p14="http://schemas.microsoft.com/office/powerpoint/2010/main" val="3524994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3999" y="1122363"/>
            <a:ext cx="9247601" cy="2387600"/>
          </a:xfrm>
        </p:spPr>
        <p:txBody>
          <a:bodyPr>
            <a:normAutofit/>
          </a:bodyPr>
          <a:lstStyle/>
          <a:p>
            <a:r>
              <a:rPr lang="es-CO" sz="2400" b="1" dirty="0">
                <a:latin typeface="Verdana" panose="020B0604030504040204" pitchFamily="34" charset="0"/>
                <a:ea typeface="Verdana" panose="020B0604030504040204" pitchFamily="34" charset="0"/>
                <a:cs typeface="Verdana" panose="020B0604030504040204" pitchFamily="34" charset="0"/>
              </a:rPr>
              <a:t>Clase No. 3</a:t>
            </a:r>
          </a:p>
        </p:txBody>
      </p:sp>
      <p:sp>
        <p:nvSpPr>
          <p:cNvPr id="3" name="Subtítulo 2"/>
          <p:cNvSpPr>
            <a:spLocks noGrp="1"/>
          </p:cNvSpPr>
          <p:nvPr>
            <p:ph type="subTitle" idx="1"/>
          </p:nvPr>
        </p:nvSpPr>
        <p:spPr/>
        <p:txBody>
          <a:bodyPr/>
          <a:lstStyle/>
          <a:p>
            <a:r>
              <a:rPr lang="es-CO" b="1" dirty="0">
                <a:latin typeface="Verdana" panose="020B0604030504040204" pitchFamily="34" charset="0"/>
                <a:ea typeface="Verdana" panose="020B0604030504040204" pitchFamily="34" charset="0"/>
                <a:cs typeface="Verdana" panose="020B0604030504040204" pitchFamily="34" charset="0"/>
              </a:rPr>
              <a:t>TÉCNICAS DE CONTEO</a:t>
            </a:r>
          </a:p>
          <a:p>
            <a:endParaRPr lang="es-CO" dirty="0"/>
          </a:p>
          <a:p>
            <a:pPr marL="1620755" marR="1634245">
              <a:lnSpc>
                <a:spcPts val="1760"/>
              </a:lnSpc>
              <a:spcBef>
                <a:spcPts val="88"/>
              </a:spcBef>
            </a:pPr>
            <a:r>
              <a:rPr lang="es-CO" sz="1600" b="1" spc="4" dirty="0">
                <a:latin typeface="Verdana"/>
                <a:cs typeface="Verdana"/>
              </a:rPr>
              <a:t>U</a:t>
            </a:r>
            <a:r>
              <a:rPr lang="es-CO" sz="1600" b="1" spc="0" dirty="0">
                <a:latin typeface="Verdana"/>
                <a:cs typeface="Verdana"/>
              </a:rPr>
              <a:t>ni</a:t>
            </a:r>
            <a:r>
              <a:rPr lang="es-CO" sz="1600" b="1" spc="4" dirty="0">
                <a:latin typeface="Verdana"/>
                <a:cs typeface="Verdana"/>
              </a:rPr>
              <a:t>v</a:t>
            </a:r>
            <a:r>
              <a:rPr lang="es-CO" sz="1600" b="1" spc="0" dirty="0">
                <a:latin typeface="Verdana"/>
                <a:cs typeface="Verdana"/>
              </a:rPr>
              <a:t>e</a:t>
            </a:r>
            <a:r>
              <a:rPr lang="es-CO" sz="1600" b="1" spc="-4" dirty="0">
                <a:latin typeface="Verdana"/>
                <a:cs typeface="Verdana"/>
              </a:rPr>
              <a:t>rs</a:t>
            </a:r>
            <a:r>
              <a:rPr lang="es-CO" sz="1600" b="1" spc="4" dirty="0">
                <a:latin typeface="Verdana"/>
                <a:cs typeface="Verdana"/>
              </a:rPr>
              <a:t>id</a:t>
            </a:r>
            <a:r>
              <a:rPr lang="es-CO" sz="1600" b="1" spc="0" dirty="0">
                <a:latin typeface="Verdana"/>
                <a:cs typeface="Verdana"/>
              </a:rPr>
              <a:t>ad</a:t>
            </a:r>
            <a:r>
              <a:rPr lang="es-CO" sz="1600" b="1" spc="9" dirty="0">
                <a:latin typeface="Verdana"/>
                <a:cs typeface="Verdana"/>
              </a:rPr>
              <a:t> </a:t>
            </a:r>
            <a:r>
              <a:rPr lang="es-CO" sz="1600" b="1" spc="4" dirty="0">
                <a:latin typeface="Verdana"/>
                <a:cs typeface="Verdana"/>
              </a:rPr>
              <a:t>d</a:t>
            </a:r>
            <a:r>
              <a:rPr lang="es-CO" sz="1600" b="1" spc="0" dirty="0">
                <a:latin typeface="Verdana"/>
                <a:cs typeface="Verdana"/>
              </a:rPr>
              <a:t>el</a:t>
            </a:r>
            <a:r>
              <a:rPr lang="es-CO" sz="1600" b="1" spc="9" dirty="0">
                <a:latin typeface="Verdana"/>
                <a:cs typeface="Verdana"/>
              </a:rPr>
              <a:t> </a:t>
            </a:r>
            <a:r>
              <a:rPr lang="es-CO" sz="1600" b="1" spc="4" dirty="0">
                <a:latin typeface="Verdana"/>
                <a:cs typeface="Verdana"/>
              </a:rPr>
              <a:t>Val</a:t>
            </a:r>
            <a:r>
              <a:rPr lang="es-CO" sz="1600" b="1" spc="0" dirty="0">
                <a:latin typeface="Verdana"/>
                <a:cs typeface="Verdana"/>
              </a:rPr>
              <a:t>le</a:t>
            </a:r>
            <a:endParaRPr lang="es-CO" sz="1600" dirty="0">
              <a:latin typeface="Verdana"/>
              <a:cs typeface="Verdana"/>
            </a:endParaRPr>
          </a:p>
          <a:p>
            <a:pPr>
              <a:lnSpc>
                <a:spcPct val="101277"/>
              </a:lnSpc>
              <a:spcBef>
                <a:spcPts val="282"/>
              </a:spcBef>
            </a:pPr>
            <a:r>
              <a:rPr lang="es-CO" sz="1600" b="1" spc="0" dirty="0">
                <a:latin typeface="Verdana"/>
                <a:cs typeface="Verdana"/>
              </a:rPr>
              <a:t>Es</a:t>
            </a:r>
            <a:r>
              <a:rPr lang="es-CO" sz="1600" b="1" spc="-9" dirty="0">
                <a:latin typeface="Verdana"/>
                <a:cs typeface="Verdana"/>
              </a:rPr>
              <a:t>c</a:t>
            </a:r>
            <a:r>
              <a:rPr lang="es-CO" sz="1600" b="1" spc="0" dirty="0">
                <a:latin typeface="Verdana"/>
                <a:cs typeface="Verdana"/>
              </a:rPr>
              <a:t>uela de Ingeniería de Sist</a:t>
            </a:r>
            <a:r>
              <a:rPr lang="es-CO" sz="1600" b="1" spc="-9" dirty="0">
                <a:latin typeface="Verdana"/>
                <a:cs typeface="Verdana"/>
              </a:rPr>
              <a:t>e</a:t>
            </a:r>
            <a:r>
              <a:rPr lang="es-CO" sz="1600" b="1" spc="-4" dirty="0">
                <a:latin typeface="Verdana"/>
                <a:cs typeface="Verdana"/>
              </a:rPr>
              <a:t>m</a:t>
            </a:r>
            <a:r>
              <a:rPr lang="es-CO" sz="1600" b="1" spc="0" dirty="0">
                <a:latin typeface="Verdana"/>
                <a:cs typeface="Verdana"/>
              </a:rPr>
              <a:t>as y Comp</a:t>
            </a:r>
            <a:r>
              <a:rPr lang="es-CO" sz="1600" b="1" spc="-4" dirty="0">
                <a:latin typeface="Verdana"/>
                <a:cs typeface="Verdana"/>
              </a:rPr>
              <a:t>ut</a:t>
            </a:r>
            <a:r>
              <a:rPr lang="es-CO" sz="1600" b="1" spc="0" dirty="0">
                <a:latin typeface="Verdana"/>
                <a:cs typeface="Verdana"/>
              </a:rPr>
              <a:t>ación</a:t>
            </a:r>
            <a:endParaRPr lang="es-CO" sz="1600" dirty="0">
              <a:latin typeface="Verdana"/>
              <a:cs typeface="Verdana"/>
            </a:endParaRPr>
          </a:p>
          <a:p>
            <a:endParaRPr lang="es-CO" dirty="0"/>
          </a:p>
        </p:txBody>
      </p:sp>
      <p:sp>
        <p:nvSpPr>
          <p:cNvPr id="4" name="object 9"/>
          <p:cNvSpPr/>
          <p:nvPr/>
        </p:nvSpPr>
        <p:spPr>
          <a:xfrm>
            <a:off x="1523999" y="473138"/>
            <a:ext cx="9247601" cy="772565"/>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800" b="1" dirty="0">
                <a:solidFill>
                  <a:schemeClr val="bg1"/>
                </a:solidFill>
                <a:latin typeface="Verdana" panose="020B0604030504040204" pitchFamily="34" charset="0"/>
                <a:ea typeface="Verdana" panose="020B0604030504040204" pitchFamily="34" charset="0"/>
                <a:cs typeface="Verdana" panose="020B0604030504040204" pitchFamily="34" charset="0"/>
              </a:rPr>
              <a:t>MATEMÁTICAS DISCRETAS II</a:t>
            </a:r>
            <a:endParaRPr sz="28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7" name="object 11">
            <a:extLst>
              <a:ext uri="{FF2B5EF4-FFF2-40B4-BE49-F238E27FC236}">
                <a16:creationId xmlns:a16="http://schemas.microsoft.com/office/drawing/2014/main" id="{71792BF6-671C-3803-7EE8-47BDEC847CB8}"/>
              </a:ext>
            </a:extLst>
          </p:cNvPr>
          <p:cNvSpPr/>
          <p:nvPr/>
        </p:nvSpPr>
        <p:spPr>
          <a:xfrm>
            <a:off x="1524000" y="6113590"/>
            <a:ext cx="9144000"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Tree>
    <p:extLst>
      <p:ext uri="{BB962C8B-B14F-4D97-AF65-F5344CB8AC3E}">
        <p14:creationId xmlns:p14="http://schemas.microsoft.com/office/powerpoint/2010/main" val="2675159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CONTENIDO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12" name="Título 11">
            <a:extLst>
              <a:ext uri="{FF2B5EF4-FFF2-40B4-BE49-F238E27FC236}">
                <a16:creationId xmlns:a16="http://schemas.microsoft.com/office/drawing/2014/main" id="{25BD46EE-66D9-F4A1-F88C-4767A90E3CDB}"/>
              </a:ext>
            </a:extLst>
          </p:cNvPr>
          <p:cNvSpPr>
            <a:spLocks noGrp="1"/>
          </p:cNvSpPr>
          <p:nvPr>
            <p:ph type="title"/>
          </p:nvPr>
        </p:nvSpPr>
        <p:spPr/>
        <p:txBody>
          <a:bodyPr/>
          <a:lstStyle/>
          <a:p>
            <a:endParaRPr lang="es-CO"/>
          </a:p>
        </p:txBody>
      </p:sp>
      <p:sp>
        <p:nvSpPr>
          <p:cNvPr id="14" name="Marcador de contenido 13">
            <a:extLst>
              <a:ext uri="{FF2B5EF4-FFF2-40B4-BE49-F238E27FC236}">
                <a16:creationId xmlns:a16="http://schemas.microsoft.com/office/drawing/2014/main" id="{3C1FED90-FE25-9201-ED81-BAFF626DBAB3}"/>
              </a:ext>
            </a:extLst>
          </p:cNvPr>
          <p:cNvSpPr>
            <a:spLocks noGrp="1"/>
          </p:cNvSpPr>
          <p:nvPr>
            <p:ph idx="1"/>
          </p:nvPr>
        </p:nvSpPr>
        <p:spPr/>
        <p:txBody>
          <a:bodyPr/>
          <a:lstStyle/>
          <a:p>
            <a:endParaRPr lang="es-MX" dirty="0"/>
          </a:p>
          <a:p>
            <a:r>
              <a:rPr lang="es-MX" dirty="0"/>
              <a:t>Principio del Palomar</a:t>
            </a:r>
          </a:p>
          <a:p>
            <a:pPr lvl="1"/>
            <a:r>
              <a:rPr lang="es-MX" dirty="0"/>
              <a:t>Principio del Palomar Generalizado</a:t>
            </a:r>
          </a:p>
          <a:p>
            <a:pPr lvl="1"/>
            <a:r>
              <a:rPr lang="es-MX" dirty="0"/>
              <a:t>Aplicaciones</a:t>
            </a:r>
            <a:endParaRPr lang="es-CO" dirty="0"/>
          </a:p>
          <a:p>
            <a:r>
              <a:rPr lang="es-MX" dirty="0"/>
              <a:t>Permutaciones</a:t>
            </a:r>
          </a:p>
          <a:p>
            <a:r>
              <a:rPr lang="es-MX" dirty="0"/>
              <a:t>Combinaciones</a:t>
            </a:r>
          </a:p>
          <a:p>
            <a:r>
              <a:rPr lang="es-MX" dirty="0"/>
              <a:t>Coeficiente binomial</a:t>
            </a:r>
          </a:p>
          <a:p>
            <a:endParaRPr lang="es-CO" dirty="0"/>
          </a:p>
        </p:txBody>
      </p:sp>
    </p:spTree>
    <p:extLst>
      <p:ext uri="{BB962C8B-B14F-4D97-AF65-F5344CB8AC3E}">
        <p14:creationId xmlns:p14="http://schemas.microsoft.com/office/powerpoint/2010/main" val="547649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DEL PALOMARL(Dirichlet)</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Marcador de contenido 6">
            <a:extLst>
              <a:ext uri="{FF2B5EF4-FFF2-40B4-BE49-F238E27FC236}">
                <a16:creationId xmlns:a16="http://schemas.microsoft.com/office/drawing/2014/main" id="{B9E7FF9D-771B-5123-061D-345AE4DD17DB}"/>
              </a:ext>
            </a:extLst>
          </p:cNvPr>
          <p:cNvSpPr>
            <a:spLocks noGrp="1"/>
          </p:cNvSpPr>
          <p:nvPr>
            <p:ph idx="1"/>
          </p:nvPr>
        </p:nvSpPr>
        <p:spPr/>
        <p:txBody>
          <a:bodyPr/>
          <a:lstStyle/>
          <a:p>
            <a:pPr marL="0" indent="0">
              <a:buNone/>
            </a:pPr>
            <a:r>
              <a:rPr lang="es-MX" sz="1800" dirty="0">
                <a:latin typeface="Verdana" panose="020B0604030504040204" pitchFamily="34" charset="0"/>
                <a:ea typeface="Verdana" panose="020B0604030504040204" pitchFamily="34" charset="0"/>
              </a:rPr>
              <a:t>El principio del palomar asegura que, si hay más palomas que nidos, debe haber algún nido con al menos dos palomas.</a:t>
            </a:r>
          </a:p>
          <a:p>
            <a:endParaRPr lang="es-MX" dirty="0"/>
          </a:p>
          <a:p>
            <a:endParaRPr lang="es-CO" dirty="0"/>
          </a:p>
        </p:txBody>
      </p:sp>
      <p:sp>
        <p:nvSpPr>
          <p:cNvPr id="10" name="CuadroTexto 9">
            <a:extLst>
              <a:ext uri="{FF2B5EF4-FFF2-40B4-BE49-F238E27FC236}">
                <a16:creationId xmlns:a16="http://schemas.microsoft.com/office/drawing/2014/main" id="{9CAB1289-9E43-5BEE-8099-F0DC5CDD8F91}"/>
              </a:ext>
            </a:extLst>
          </p:cNvPr>
          <p:cNvSpPr txBox="1"/>
          <p:nvPr/>
        </p:nvSpPr>
        <p:spPr>
          <a:xfrm>
            <a:off x="838200" y="2881011"/>
            <a:ext cx="9144001" cy="1200329"/>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TEOREMA 1</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Si</a:t>
            </a:r>
            <a:r>
              <a:rPr lang="es-MX" b="1" dirty="0">
                <a:latin typeface="Verdana" panose="020B0604030504040204" pitchFamily="34" charset="0"/>
                <a:ea typeface="Verdana" panose="020B0604030504040204" pitchFamily="34" charset="0"/>
                <a:cs typeface="Verdana" panose="020B0604030504040204" pitchFamily="34" charset="0"/>
              </a:rPr>
              <a:t> </a:t>
            </a:r>
            <a:r>
              <a:rPr lang="es-MX" i="1" dirty="0">
                <a:latin typeface="Verdana" panose="020B0604030504040204" pitchFamily="34" charset="0"/>
                <a:ea typeface="Verdana" panose="020B0604030504040204" pitchFamily="34" charset="0"/>
                <a:cs typeface="Verdana" panose="020B0604030504040204" pitchFamily="34" charset="0"/>
              </a:rPr>
              <a:t>k + 1 </a:t>
            </a:r>
            <a:r>
              <a:rPr lang="es-MX" dirty="0">
                <a:latin typeface="Verdana" panose="020B0604030504040204" pitchFamily="34" charset="0"/>
                <a:ea typeface="Verdana" panose="020B0604030504040204" pitchFamily="34" charset="0"/>
                <a:cs typeface="Verdana" panose="020B0604030504040204" pitchFamily="34" charset="0"/>
              </a:rPr>
              <a:t>o más objetos se colocan en k cajas, existe al menos una caja que contiene dos o más objetos</a:t>
            </a:r>
          </a:p>
        </p:txBody>
      </p:sp>
    </p:spTree>
    <p:extLst>
      <p:ext uri="{BB962C8B-B14F-4D97-AF65-F5344CB8AC3E}">
        <p14:creationId xmlns:p14="http://schemas.microsoft.com/office/powerpoint/2010/main" val="2212159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 PALOMAR(Dirichlet)</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Marcador de contenido 6">
            <a:extLst>
              <a:ext uri="{FF2B5EF4-FFF2-40B4-BE49-F238E27FC236}">
                <a16:creationId xmlns:a16="http://schemas.microsoft.com/office/drawing/2014/main" id="{B9E7FF9D-771B-5123-061D-345AE4DD17DB}"/>
              </a:ext>
            </a:extLst>
          </p:cNvPr>
          <p:cNvSpPr>
            <a:spLocks noGrp="1"/>
          </p:cNvSpPr>
          <p:nvPr>
            <p:ph idx="1"/>
          </p:nvPr>
        </p:nvSpPr>
        <p:spPr/>
        <p:txBody>
          <a:bodyPr/>
          <a:lstStyle/>
          <a:p>
            <a:endParaRPr lang="es-MX" dirty="0"/>
          </a:p>
          <a:p>
            <a:endParaRPr lang="es-CO" dirty="0"/>
          </a:p>
        </p:txBody>
      </p:sp>
      <p:sp>
        <p:nvSpPr>
          <p:cNvPr id="11" name="CuadroTexto 10">
            <a:extLst>
              <a:ext uri="{FF2B5EF4-FFF2-40B4-BE49-F238E27FC236}">
                <a16:creationId xmlns:a16="http://schemas.microsoft.com/office/drawing/2014/main" id="{BD0B2DBD-ED3F-A67F-5B03-B7D2689F9F4B}"/>
              </a:ext>
            </a:extLst>
          </p:cNvPr>
          <p:cNvSpPr txBox="1"/>
          <p:nvPr/>
        </p:nvSpPr>
        <p:spPr>
          <a:xfrm>
            <a:off x="678179" y="1825625"/>
            <a:ext cx="9144001" cy="1477328"/>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DEMOSTRACIÓN</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Suponemos que ninguna de las cajas contiene más de un objeto. En tal caso, el número total de objetos es como máximo k, lo que contradice el hecho que hay al menos k + 1 objetos.</a:t>
            </a:r>
          </a:p>
        </p:txBody>
      </p:sp>
      <p:pic>
        <p:nvPicPr>
          <p:cNvPr id="5" name="Imagen 4">
            <a:extLst>
              <a:ext uri="{FF2B5EF4-FFF2-40B4-BE49-F238E27FC236}">
                <a16:creationId xmlns:a16="http://schemas.microsoft.com/office/drawing/2014/main" id="{DEF54F27-926D-50B2-5322-F2AAE84097A4}"/>
              </a:ext>
            </a:extLst>
          </p:cNvPr>
          <p:cNvPicPr>
            <a:picLocks noChangeAspect="1"/>
          </p:cNvPicPr>
          <p:nvPr/>
        </p:nvPicPr>
        <p:blipFill rotWithShape="1">
          <a:blip r:embed="rId3"/>
          <a:srcRect l="27391" t="53528" r="27174" b="16260"/>
          <a:stretch/>
        </p:blipFill>
        <p:spPr>
          <a:xfrm>
            <a:off x="2557670" y="3555049"/>
            <a:ext cx="7076659" cy="2430686"/>
          </a:xfrm>
          <a:prstGeom prst="rect">
            <a:avLst/>
          </a:prstGeom>
        </p:spPr>
      </p:pic>
    </p:spTree>
    <p:extLst>
      <p:ext uri="{BB962C8B-B14F-4D97-AF65-F5344CB8AC3E}">
        <p14:creationId xmlns:p14="http://schemas.microsoft.com/office/powerpoint/2010/main" val="122108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DEL PALOMAR (Dirichlet)</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Marcador de contenido 6">
            <a:extLst>
              <a:ext uri="{FF2B5EF4-FFF2-40B4-BE49-F238E27FC236}">
                <a16:creationId xmlns:a16="http://schemas.microsoft.com/office/drawing/2014/main" id="{B9E7FF9D-771B-5123-061D-345AE4DD17DB}"/>
              </a:ext>
            </a:extLst>
          </p:cNvPr>
          <p:cNvSpPr>
            <a:spLocks noGrp="1"/>
          </p:cNvSpPr>
          <p:nvPr>
            <p:ph idx="1"/>
          </p:nvPr>
        </p:nvSpPr>
        <p:spPr/>
        <p:txBody>
          <a:bodyPr/>
          <a:lstStyle/>
          <a:p>
            <a:endParaRPr lang="es-MX" dirty="0"/>
          </a:p>
          <a:p>
            <a:endParaRPr lang="es-CO" dirty="0"/>
          </a:p>
        </p:txBody>
      </p:sp>
      <p:sp>
        <p:nvSpPr>
          <p:cNvPr id="11" name="CuadroTexto 10">
            <a:extLst>
              <a:ext uri="{FF2B5EF4-FFF2-40B4-BE49-F238E27FC236}">
                <a16:creationId xmlns:a16="http://schemas.microsoft.com/office/drawing/2014/main" id="{BD0B2DBD-ED3F-A67F-5B03-B7D2689F9F4B}"/>
              </a:ext>
            </a:extLst>
          </p:cNvPr>
          <p:cNvSpPr txBox="1"/>
          <p:nvPr/>
        </p:nvSpPr>
        <p:spPr>
          <a:xfrm>
            <a:off x="678175" y="3170660"/>
            <a:ext cx="9989821" cy="923330"/>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a:t>
            </a:r>
          </a:p>
          <a:p>
            <a:pPr algn="just"/>
            <a:r>
              <a:rPr lang="es-MX" dirty="0">
                <a:latin typeface="Verdana" panose="020B0604030504040204" pitchFamily="34" charset="0"/>
                <a:ea typeface="Verdana" panose="020B0604030504040204" pitchFamily="34" charset="0"/>
                <a:cs typeface="Verdana" panose="020B0604030504040204" pitchFamily="34" charset="0"/>
              </a:rPr>
              <a:t>En un grupo de 367 personas vivas debe existir al menor dos que cumplen años el mismo día, ya que hay sólo 366 posibles fechas de cumpleaños.</a:t>
            </a:r>
          </a:p>
        </p:txBody>
      </p:sp>
      <p:sp>
        <p:nvSpPr>
          <p:cNvPr id="2" name="CuadroTexto 1">
            <a:extLst>
              <a:ext uri="{FF2B5EF4-FFF2-40B4-BE49-F238E27FC236}">
                <a16:creationId xmlns:a16="http://schemas.microsoft.com/office/drawing/2014/main" id="{A21A678B-6EC9-0EC5-74B3-603B41BDE76B}"/>
              </a:ext>
            </a:extLst>
          </p:cNvPr>
          <p:cNvSpPr txBox="1"/>
          <p:nvPr/>
        </p:nvSpPr>
        <p:spPr>
          <a:xfrm>
            <a:off x="678176" y="4592898"/>
            <a:ext cx="9989821" cy="923330"/>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a:t>
            </a:r>
          </a:p>
          <a:p>
            <a:pPr algn="just"/>
            <a:r>
              <a:rPr lang="es-MX" dirty="0">
                <a:latin typeface="Verdana" panose="020B0604030504040204" pitchFamily="34" charset="0"/>
                <a:ea typeface="Verdana" panose="020B0604030504040204" pitchFamily="34" charset="0"/>
                <a:cs typeface="Verdana" panose="020B0604030504040204" pitchFamily="34" charset="0"/>
              </a:rPr>
              <a:t>En cualquier grupo de 28 palabras del idioma español debe haber al menos dos que comiencen por la misma letra, ya que hay 27 letras en el alfabeto.</a:t>
            </a:r>
          </a:p>
        </p:txBody>
      </p:sp>
      <p:sp>
        <p:nvSpPr>
          <p:cNvPr id="5" name="CuadroTexto 4">
            <a:extLst>
              <a:ext uri="{FF2B5EF4-FFF2-40B4-BE49-F238E27FC236}">
                <a16:creationId xmlns:a16="http://schemas.microsoft.com/office/drawing/2014/main" id="{3115F6BE-CC7B-00AA-CE8F-B02C4B323CC5}"/>
              </a:ext>
            </a:extLst>
          </p:cNvPr>
          <p:cNvSpPr txBox="1"/>
          <p:nvPr/>
        </p:nvSpPr>
        <p:spPr>
          <a:xfrm>
            <a:off x="678176" y="1683196"/>
            <a:ext cx="9144001"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Juan regresa de la lavandería con 12 pares de calcetines (cada par de distinto color) en una bolsa. Al sacarlos de la bolsa aleatoriamente, tendrá que sacar cuando mucho 13 de ellos para obtener un par. </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1228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DEL PALOMAR(Dirichlet)</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Marcador de contenido 6">
            <a:extLst>
              <a:ext uri="{FF2B5EF4-FFF2-40B4-BE49-F238E27FC236}">
                <a16:creationId xmlns:a16="http://schemas.microsoft.com/office/drawing/2014/main" id="{B9E7FF9D-771B-5123-061D-345AE4DD17DB}"/>
              </a:ext>
            </a:extLst>
          </p:cNvPr>
          <p:cNvSpPr>
            <a:spLocks noGrp="1"/>
          </p:cNvSpPr>
          <p:nvPr>
            <p:ph idx="1"/>
          </p:nvPr>
        </p:nvSpPr>
        <p:spPr/>
        <p:txBody>
          <a:bodyPr/>
          <a:lstStyle/>
          <a:p>
            <a:endParaRPr lang="es-MX" dirty="0"/>
          </a:p>
          <a:p>
            <a:endParaRPr lang="es-CO" dirty="0"/>
          </a:p>
        </p:txBody>
      </p:sp>
      <p:sp>
        <p:nvSpPr>
          <p:cNvPr id="11" name="CuadroTexto 10">
            <a:extLst>
              <a:ext uri="{FF2B5EF4-FFF2-40B4-BE49-F238E27FC236}">
                <a16:creationId xmlns:a16="http://schemas.microsoft.com/office/drawing/2014/main" id="{BD0B2DBD-ED3F-A67F-5B03-B7D2689F9F4B}"/>
              </a:ext>
            </a:extLst>
          </p:cNvPr>
          <p:cNvSpPr txBox="1"/>
          <p:nvPr/>
        </p:nvSpPr>
        <p:spPr>
          <a:xfrm>
            <a:off x="678179" y="1825625"/>
            <a:ext cx="9989821" cy="1200329"/>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a:t>
            </a:r>
          </a:p>
          <a:p>
            <a:pPr algn="just"/>
            <a:r>
              <a:rPr lang="es-MX" dirty="0">
                <a:latin typeface="Verdana" panose="020B0604030504040204" pitchFamily="34" charset="0"/>
                <a:ea typeface="Verdana" panose="020B0604030504040204" pitchFamily="34" charset="0"/>
                <a:cs typeface="Verdana" panose="020B0604030504040204" pitchFamily="34" charset="0"/>
              </a:rPr>
              <a:t>¿Cuántos estudiantes debe haber en una clase para garantizar que al menos dos estudiantes reciben la misma nota en el examen, suponiendo que el examen se califica en una escala de 0 a 100 puntos?</a:t>
            </a:r>
          </a:p>
        </p:txBody>
      </p:sp>
      <p:sp>
        <p:nvSpPr>
          <p:cNvPr id="2" name="CuadroTexto 1">
            <a:extLst>
              <a:ext uri="{FF2B5EF4-FFF2-40B4-BE49-F238E27FC236}">
                <a16:creationId xmlns:a16="http://schemas.microsoft.com/office/drawing/2014/main" id="{A21A678B-6EC9-0EC5-74B3-603B41BDE76B}"/>
              </a:ext>
            </a:extLst>
          </p:cNvPr>
          <p:cNvSpPr txBox="1"/>
          <p:nvPr/>
        </p:nvSpPr>
        <p:spPr>
          <a:xfrm>
            <a:off x="678178" y="3883213"/>
            <a:ext cx="9989821" cy="1200329"/>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a:t>
            </a:r>
          </a:p>
          <a:p>
            <a:pPr algn="just"/>
            <a:r>
              <a:rPr lang="es-MX" dirty="0">
                <a:latin typeface="Verdana" panose="020B0604030504040204" pitchFamily="34" charset="0"/>
                <a:ea typeface="Verdana" panose="020B0604030504040204" pitchFamily="34" charset="0"/>
                <a:cs typeface="Verdana" panose="020B0604030504040204" pitchFamily="34" charset="0"/>
              </a:rPr>
              <a:t>Existen 101 posibles puntuaciones en el examen, aplicando el principio del palomar asegura que, si en la clase hay 102 estudiantes, al menos dos de ellos reciben la misma calificación.</a:t>
            </a:r>
          </a:p>
        </p:txBody>
      </p:sp>
    </p:spTree>
    <p:extLst>
      <p:ext uri="{BB962C8B-B14F-4D97-AF65-F5344CB8AC3E}">
        <p14:creationId xmlns:p14="http://schemas.microsoft.com/office/powerpoint/2010/main" val="102488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DEL PALOMAR(Dirichlet)</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Marcador de contenido 6">
            <a:extLst>
              <a:ext uri="{FF2B5EF4-FFF2-40B4-BE49-F238E27FC236}">
                <a16:creationId xmlns:a16="http://schemas.microsoft.com/office/drawing/2014/main" id="{B9E7FF9D-771B-5123-061D-345AE4DD17DB}"/>
              </a:ext>
            </a:extLst>
          </p:cNvPr>
          <p:cNvSpPr>
            <a:spLocks noGrp="1"/>
          </p:cNvSpPr>
          <p:nvPr>
            <p:ph idx="1"/>
          </p:nvPr>
        </p:nvSpPr>
        <p:spPr/>
        <p:txBody>
          <a:bodyPr/>
          <a:lstStyle/>
          <a:p>
            <a:endParaRPr lang="es-MX" dirty="0"/>
          </a:p>
          <a:p>
            <a:endParaRPr lang="es-CO" dirty="0"/>
          </a:p>
        </p:txBody>
      </p:sp>
      <p:sp>
        <p:nvSpPr>
          <p:cNvPr id="11" name="CuadroTexto 10">
            <a:extLst>
              <a:ext uri="{FF2B5EF4-FFF2-40B4-BE49-F238E27FC236}">
                <a16:creationId xmlns:a16="http://schemas.microsoft.com/office/drawing/2014/main" id="{BD0B2DBD-ED3F-A67F-5B03-B7D2689F9F4B}"/>
              </a:ext>
            </a:extLst>
          </p:cNvPr>
          <p:cNvSpPr txBox="1"/>
          <p:nvPr/>
        </p:nvSpPr>
        <p:spPr>
          <a:xfrm>
            <a:off x="678179" y="1825625"/>
            <a:ext cx="9989821" cy="1477328"/>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a:t>
            </a:r>
          </a:p>
          <a:p>
            <a:pPr algn="just"/>
            <a:r>
              <a:rPr lang="es-MX" dirty="0">
                <a:latin typeface="Verdana" panose="020B0604030504040204" pitchFamily="34" charset="0"/>
                <a:ea typeface="Verdana" panose="020B0604030504040204" pitchFamily="34" charset="0"/>
                <a:cs typeface="Verdana" panose="020B0604030504040204" pitchFamily="34" charset="0"/>
              </a:rPr>
              <a:t>¿Cuántos estudiantes debe haber en la clase de matemáticas discretas II para garantizar que al menos dos estudiantes reciben la misma nota en el examen final, suponiendo que el examen final se califica con un valor de 0.0 y entre 1.0 y 5.0 incluidos?</a:t>
            </a:r>
          </a:p>
        </p:txBody>
      </p:sp>
      <p:sp>
        <p:nvSpPr>
          <p:cNvPr id="2" name="CuadroTexto 1">
            <a:extLst>
              <a:ext uri="{FF2B5EF4-FFF2-40B4-BE49-F238E27FC236}">
                <a16:creationId xmlns:a16="http://schemas.microsoft.com/office/drawing/2014/main" id="{A21A678B-6EC9-0EC5-74B3-603B41BDE76B}"/>
              </a:ext>
            </a:extLst>
          </p:cNvPr>
          <p:cNvSpPr txBox="1"/>
          <p:nvPr/>
        </p:nvSpPr>
        <p:spPr>
          <a:xfrm>
            <a:off x="678179" y="3896983"/>
            <a:ext cx="9989821" cy="1200329"/>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Existen en total 42 notas, por lo tanto, deben existir al menos 43 estudiantes para garantizar al menos dos estudiantes reciban la misma nota. </a:t>
            </a:r>
          </a:p>
        </p:txBody>
      </p:sp>
    </p:spTree>
    <p:extLst>
      <p:ext uri="{BB962C8B-B14F-4D97-AF65-F5344CB8AC3E}">
        <p14:creationId xmlns:p14="http://schemas.microsoft.com/office/powerpoint/2010/main" val="318170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DEL PALOMAR(Dirichlet)</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Marcador de contenido 6">
            <a:extLst>
              <a:ext uri="{FF2B5EF4-FFF2-40B4-BE49-F238E27FC236}">
                <a16:creationId xmlns:a16="http://schemas.microsoft.com/office/drawing/2014/main" id="{B9E7FF9D-771B-5123-061D-345AE4DD17DB}"/>
              </a:ext>
            </a:extLst>
          </p:cNvPr>
          <p:cNvSpPr>
            <a:spLocks noGrp="1"/>
          </p:cNvSpPr>
          <p:nvPr>
            <p:ph idx="1"/>
          </p:nvPr>
        </p:nvSpPr>
        <p:spPr/>
        <p:txBody>
          <a:bodyPr/>
          <a:lstStyle/>
          <a:p>
            <a:endParaRPr lang="es-MX" dirty="0"/>
          </a:p>
          <a:p>
            <a:endParaRPr lang="es-CO" dirty="0"/>
          </a:p>
        </p:txBody>
      </p:sp>
      <p:sp>
        <p:nvSpPr>
          <p:cNvPr id="11" name="CuadroTexto 10">
            <a:extLst>
              <a:ext uri="{FF2B5EF4-FFF2-40B4-BE49-F238E27FC236}">
                <a16:creationId xmlns:a16="http://schemas.microsoft.com/office/drawing/2014/main" id="{BD0B2DBD-ED3F-A67F-5B03-B7D2689F9F4B}"/>
              </a:ext>
            </a:extLst>
          </p:cNvPr>
          <p:cNvSpPr txBox="1"/>
          <p:nvPr/>
        </p:nvSpPr>
        <p:spPr>
          <a:xfrm>
            <a:off x="678179" y="1825625"/>
            <a:ext cx="9989821" cy="923330"/>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a:t>
            </a:r>
          </a:p>
          <a:p>
            <a:pPr algn="just"/>
            <a:r>
              <a:rPr lang="es-MX" dirty="0">
                <a:latin typeface="Verdana" panose="020B0604030504040204" pitchFamily="34" charset="0"/>
                <a:ea typeface="Verdana" panose="020B0604030504040204" pitchFamily="34" charset="0"/>
                <a:cs typeface="Verdana" panose="020B0604030504040204" pitchFamily="34" charset="0"/>
              </a:rPr>
              <a:t>Demuestre que, si se escoge cinco números cualesquiera del 1 al 8, entonces dos de éstos sumarán 9.</a:t>
            </a:r>
          </a:p>
        </p:txBody>
      </p:sp>
      <p:sp>
        <p:nvSpPr>
          <p:cNvPr id="2" name="CuadroTexto 1">
            <a:extLst>
              <a:ext uri="{FF2B5EF4-FFF2-40B4-BE49-F238E27FC236}">
                <a16:creationId xmlns:a16="http://schemas.microsoft.com/office/drawing/2014/main" id="{A21A678B-6EC9-0EC5-74B3-603B41BDE76B}"/>
              </a:ext>
            </a:extLst>
          </p:cNvPr>
          <p:cNvSpPr txBox="1"/>
          <p:nvPr/>
        </p:nvSpPr>
        <p:spPr>
          <a:xfrm>
            <a:off x="678178" y="3219027"/>
            <a:ext cx="9989821" cy="2862322"/>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a:t>
            </a:r>
          </a:p>
          <a:p>
            <a:pPr marL="285750" indent="-285750" algn="just">
              <a:buFont typeface="Arial" panose="020B0604020202020204" pitchFamily="34" charset="0"/>
              <a:buChar char="•"/>
            </a:pPr>
            <a:r>
              <a:rPr lang="es-MX" dirty="0">
                <a:latin typeface="Verdana" panose="020B0604030504040204" pitchFamily="34" charset="0"/>
                <a:ea typeface="Verdana" panose="020B0604030504040204" pitchFamily="34" charset="0"/>
                <a:cs typeface="Verdana" panose="020B0604030504040204" pitchFamily="34" charset="0"/>
              </a:rPr>
              <a:t>Se construye cuatro conjuntos de la siguiente manera:</a:t>
            </a:r>
          </a:p>
          <a:p>
            <a:pPr algn="just"/>
            <a:r>
              <a:rPr lang="es-MX" dirty="0">
                <a:latin typeface="Verdana" panose="020B0604030504040204" pitchFamily="34" charset="0"/>
                <a:ea typeface="Verdana" panose="020B0604030504040204" pitchFamily="34" charset="0"/>
                <a:cs typeface="Verdana" panose="020B0604030504040204" pitchFamily="34" charset="0"/>
              </a:rPr>
              <a:t>	C1 = {1,8} , C2 = {2,7}, C3 = {3, 6}, C4= {4,5}</a:t>
            </a:r>
          </a:p>
          <a:p>
            <a:pPr marL="285750" indent="-285750" algn="just">
              <a:buFont typeface="Arial" panose="020B0604020202020204" pitchFamily="34" charset="0"/>
              <a:buChar char="•"/>
            </a:pPr>
            <a:r>
              <a:rPr lang="es-MX" dirty="0">
                <a:latin typeface="Verdana" panose="020B0604030504040204" pitchFamily="34" charset="0"/>
                <a:ea typeface="Verdana" panose="020B0604030504040204" pitchFamily="34" charset="0"/>
                <a:cs typeface="Verdana" panose="020B0604030504040204" pitchFamily="34" charset="0"/>
              </a:rPr>
              <a:t>Cada uno de los cincos números debe pertenecer a uno de estos conjuntos.</a:t>
            </a:r>
          </a:p>
          <a:p>
            <a:pPr algn="just"/>
            <a:endParaRPr lang="es-MX" dirty="0">
              <a:latin typeface="Verdana" panose="020B0604030504040204" pitchFamily="34" charset="0"/>
              <a:ea typeface="Verdana" panose="020B0604030504040204" pitchFamily="34" charset="0"/>
              <a:cs typeface="Verdana" panose="020B0604030504040204" pitchFamily="34" charset="0"/>
            </a:endParaRPr>
          </a:p>
          <a:p>
            <a:pPr marL="285750" indent="-285750" algn="just">
              <a:buFont typeface="Arial" panose="020B0604020202020204" pitchFamily="34" charset="0"/>
              <a:buChar char="•"/>
            </a:pPr>
            <a:r>
              <a:rPr lang="es-MX" dirty="0">
                <a:latin typeface="Verdana" panose="020B0604030504040204" pitchFamily="34" charset="0"/>
                <a:ea typeface="Verdana" panose="020B0604030504040204" pitchFamily="34" charset="0"/>
                <a:cs typeface="Verdana" panose="020B0604030504040204" pitchFamily="34" charset="0"/>
              </a:rPr>
              <a:t>Como solo hay cuatro conjuntos por P.P, se dice que dos de los números escogidos pertenecen al mismo conjunto.</a:t>
            </a:r>
          </a:p>
          <a:p>
            <a:pPr marL="285750" indent="-285750" algn="just">
              <a:buFont typeface="Arial" panose="020B0604020202020204" pitchFamily="34" charset="0"/>
              <a:buChar char="•"/>
            </a:pPr>
            <a:r>
              <a:rPr lang="es-MX" dirty="0">
                <a:latin typeface="Verdana" panose="020B0604030504040204" pitchFamily="34" charset="0"/>
                <a:ea typeface="Verdana" panose="020B0604030504040204" pitchFamily="34" charset="0"/>
                <a:cs typeface="Verdana" panose="020B0604030504040204" pitchFamily="34" charset="0"/>
              </a:rPr>
              <a:t>Es decir, a uno de estos cuatro conjuntos</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1060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DEL PALOMAR(Dirichlet)</a:t>
            </a:r>
          </a:p>
          <a:p>
            <a:pPr algn="ct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3" name="CuadroTexto 2">
            <a:extLst>
              <a:ext uri="{FF2B5EF4-FFF2-40B4-BE49-F238E27FC236}">
                <a16:creationId xmlns:a16="http://schemas.microsoft.com/office/drawing/2014/main" id="{CBC1C424-CFF9-7749-0109-1198A18B306F}"/>
              </a:ext>
            </a:extLst>
          </p:cNvPr>
          <p:cNvSpPr txBox="1"/>
          <p:nvPr/>
        </p:nvSpPr>
        <p:spPr>
          <a:xfrm>
            <a:off x="1028701" y="1367249"/>
            <a:ext cx="9639300"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si se escoge un grupo de 8 personas aleatoriamente entonces por lo menos dos nacieron el mismo día de la semana.</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5" name="CuadroTexto 4">
            <a:extLst>
              <a:ext uri="{FF2B5EF4-FFF2-40B4-BE49-F238E27FC236}">
                <a16:creationId xmlns:a16="http://schemas.microsoft.com/office/drawing/2014/main" id="{F596C753-7CCB-DD9B-9283-30F6D05D2A7D}"/>
              </a:ext>
            </a:extLst>
          </p:cNvPr>
          <p:cNvSpPr txBox="1"/>
          <p:nvPr/>
        </p:nvSpPr>
        <p:spPr>
          <a:xfrm>
            <a:off x="1028698" y="2142560"/>
            <a:ext cx="9639300" cy="369332"/>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ES" dirty="0">
                <a:latin typeface="Verdana" panose="020B0604030504040204" pitchFamily="34" charset="0"/>
                <a:ea typeface="Verdana" panose="020B0604030504040204" pitchFamily="34" charset="0"/>
                <a:cs typeface="Verdana" panose="020B0604030504040204" pitchFamily="34" charset="0"/>
              </a:rPr>
              <a:t>las palomas son las personas y los nidos son los días de la semana.</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7" name="CuadroTexto 6">
            <a:extLst>
              <a:ext uri="{FF2B5EF4-FFF2-40B4-BE49-F238E27FC236}">
                <a16:creationId xmlns:a16="http://schemas.microsoft.com/office/drawing/2014/main" id="{3EC650BB-E8DE-CA25-C20F-664E6CB521FA}"/>
              </a:ext>
            </a:extLst>
          </p:cNvPr>
          <p:cNvSpPr txBox="1"/>
          <p:nvPr/>
        </p:nvSpPr>
        <p:spPr>
          <a:xfrm>
            <a:off x="1028698" y="3005271"/>
            <a:ext cx="9639299"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si se escoge un grupo de 13 personas cualesquiera entonces por lo menos dos nacieron el mismo mes. </a:t>
            </a:r>
            <a:endParaRPr lang="es-CO" dirty="0">
              <a:latin typeface="Verdana" panose="020B0604030504040204" pitchFamily="34" charset="0"/>
              <a:ea typeface="Verdana" panose="020B0604030504040204" pitchFamily="34" charset="0"/>
              <a:cs typeface="Verdana" panose="020B0604030504040204" pitchFamily="34" charset="0"/>
            </a:endParaRPr>
          </a:p>
        </p:txBody>
      </p:sp>
      <p:cxnSp>
        <p:nvCxnSpPr>
          <p:cNvPr id="9" name="Conector recto 8">
            <a:extLst>
              <a:ext uri="{FF2B5EF4-FFF2-40B4-BE49-F238E27FC236}">
                <a16:creationId xmlns:a16="http://schemas.microsoft.com/office/drawing/2014/main" id="{6E746FC3-CBC1-9932-A939-568F3E31826A}"/>
              </a:ext>
            </a:extLst>
          </p:cNvPr>
          <p:cNvCxnSpPr>
            <a:cxnSpLocks/>
          </p:cNvCxnSpPr>
          <p:nvPr/>
        </p:nvCxnSpPr>
        <p:spPr>
          <a:xfrm>
            <a:off x="1523996" y="2856037"/>
            <a:ext cx="9144001"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76236A12-CC8E-5339-7032-DD8B027BAE1A}"/>
              </a:ext>
            </a:extLst>
          </p:cNvPr>
          <p:cNvSpPr txBox="1"/>
          <p:nvPr/>
        </p:nvSpPr>
        <p:spPr>
          <a:xfrm>
            <a:off x="1028698" y="3976277"/>
            <a:ext cx="9639299"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si se escogen 6 números cualesquiera del 1 al 10 entonces por lo menos dos de estos números sumaran 11.</a:t>
            </a:r>
            <a:endParaRPr lang="es-CO" dirty="0">
              <a:latin typeface="Verdana" panose="020B0604030504040204" pitchFamily="34" charset="0"/>
              <a:ea typeface="Verdana" panose="020B0604030504040204" pitchFamily="34" charset="0"/>
              <a:cs typeface="Verdana" panose="020B0604030504040204" pitchFamily="34" charset="0"/>
            </a:endParaRPr>
          </a:p>
        </p:txBody>
      </p:sp>
      <p:cxnSp>
        <p:nvCxnSpPr>
          <p:cNvPr id="18" name="Conector recto 17">
            <a:extLst>
              <a:ext uri="{FF2B5EF4-FFF2-40B4-BE49-F238E27FC236}">
                <a16:creationId xmlns:a16="http://schemas.microsoft.com/office/drawing/2014/main" id="{ACACB7AA-C335-B5FD-A144-C8D90DD0C5E4}"/>
              </a:ext>
            </a:extLst>
          </p:cNvPr>
          <p:cNvCxnSpPr>
            <a:cxnSpLocks/>
          </p:cNvCxnSpPr>
          <p:nvPr/>
        </p:nvCxnSpPr>
        <p:spPr>
          <a:xfrm>
            <a:off x="1523996" y="3827043"/>
            <a:ext cx="9144001"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4EE0D01D-30F5-AE50-8DC2-D641E12A4ACD}"/>
              </a:ext>
            </a:extLst>
          </p:cNvPr>
          <p:cNvSpPr txBox="1"/>
          <p:nvPr/>
        </p:nvSpPr>
        <p:spPr>
          <a:xfrm>
            <a:off x="1028698" y="4945380"/>
            <a:ext cx="9639299"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un CD hay grabadas 500.000 palabras de cuatro o menos letras minúsculas formadas de los 26 símbolos del alfabeto. Entre cada palabra hay un espacio en blanco. ¿Es posible que las 500.000 palabras sean diferentes?</a:t>
            </a:r>
            <a:endParaRPr lang="es-CO" dirty="0">
              <a:latin typeface="Verdana" panose="020B0604030504040204" pitchFamily="34" charset="0"/>
              <a:ea typeface="Verdana" panose="020B0604030504040204" pitchFamily="34" charset="0"/>
              <a:cs typeface="Verdana" panose="020B0604030504040204" pitchFamily="34" charset="0"/>
            </a:endParaRPr>
          </a:p>
        </p:txBody>
      </p:sp>
      <p:cxnSp>
        <p:nvCxnSpPr>
          <p:cNvPr id="20" name="Conector recto 19">
            <a:extLst>
              <a:ext uri="{FF2B5EF4-FFF2-40B4-BE49-F238E27FC236}">
                <a16:creationId xmlns:a16="http://schemas.microsoft.com/office/drawing/2014/main" id="{BA9C8178-A0AE-C4AF-33B4-4425B9411709}"/>
              </a:ext>
            </a:extLst>
          </p:cNvPr>
          <p:cNvCxnSpPr>
            <a:cxnSpLocks/>
          </p:cNvCxnSpPr>
          <p:nvPr/>
        </p:nvCxnSpPr>
        <p:spPr>
          <a:xfrm>
            <a:off x="1523996" y="4796146"/>
            <a:ext cx="914400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739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500" fill="hold"/>
                                        <p:tgtEl>
                                          <p:spTgt spid="20"/>
                                        </p:tgtEl>
                                        <p:attrNameLst>
                                          <p:attrName>ppt_x</p:attrName>
                                        </p:attrNameLst>
                                      </p:cBhvr>
                                      <p:tavLst>
                                        <p:tav tm="0">
                                          <p:val>
                                            <p:strVal val="#ppt_x"/>
                                          </p:val>
                                        </p:tav>
                                        <p:tav tm="100000">
                                          <p:val>
                                            <p:strVal val="#ppt_x"/>
                                          </p:val>
                                        </p:tav>
                                      </p:tavLst>
                                    </p:anim>
                                    <p:anim calcmode="lin" valueType="num">
                                      <p:cBhvr additive="base">
                                        <p:cTn id="34" dur="500" fill="hold"/>
                                        <p:tgtEl>
                                          <p:spTgt spid="2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7"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DEL PALOMAR(Dirichlet)</a:t>
            </a:r>
          </a:p>
          <a:p>
            <a:pPr algn="ct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19" name="CuadroTexto 18">
            <a:extLst>
              <a:ext uri="{FF2B5EF4-FFF2-40B4-BE49-F238E27FC236}">
                <a16:creationId xmlns:a16="http://schemas.microsoft.com/office/drawing/2014/main" id="{4EE0D01D-30F5-AE50-8DC2-D641E12A4ACD}"/>
              </a:ext>
            </a:extLst>
          </p:cNvPr>
          <p:cNvSpPr txBox="1"/>
          <p:nvPr/>
        </p:nvSpPr>
        <p:spPr>
          <a:xfrm>
            <a:off x="816087" y="1607820"/>
            <a:ext cx="9955513"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un CD hay grabadas 500.000 palabras de cuatro o menos letras minúsculas formadas de los 26 símbolos del alfabeto. Entre cada palabra hay un espacio en blanco. ¿Es posible que las 500.000 palabras sean diferentes?</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56BC5808-38F2-58FB-4885-C3675FBFF26E}"/>
              </a:ext>
            </a:extLst>
          </p:cNvPr>
          <p:cNvSpPr txBox="1"/>
          <p:nvPr/>
        </p:nvSpPr>
        <p:spPr>
          <a:xfrm>
            <a:off x="816086" y="3108047"/>
            <a:ext cx="9955513" cy="313932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a:t>
            </a:r>
          </a:p>
          <a:p>
            <a:pPr algn="just"/>
            <a:r>
              <a:rPr lang="es-ES" dirty="0">
                <a:latin typeface="Verdana" panose="020B0604030504040204" pitchFamily="34" charset="0"/>
                <a:ea typeface="Verdana" panose="020B0604030504040204" pitchFamily="34" charset="0"/>
                <a:cs typeface="Verdana" panose="020B0604030504040204" pitchFamily="34" charset="0"/>
              </a:rPr>
              <a:t>Se analiza las actividades de cuatro, tres, dos y una palabra de 500.000 palabras en el CD.</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T1 = palabras de una solo letra, hay 26 opciones </a:t>
            </a:r>
          </a:p>
          <a:p>
            <a:pPr algn="just"/>
            <a:r>
              <a:rPr lang="es-ES" dirty="0">
                <a:latin typeface="Verdana" panose="020B0604030504040204" pitchFamily="34" charset="0"/>
                <a:ea typeface="Verdana" panose="020B0604030504040204" pitchFamily="34" charset="0"/>
                <a:cs typeface="Verdana" panose="020B0604030504040204" pitchFamily="34" charset="0"/>
              </a:rPr>
              <a:t>T2 = palabras de dos letras, hay 26 * 26  = 676 opciones</a:t>
            </a:r>
          </a:p>
          <a:p>
            <a:pPr algn="just"/>
            <a:r>
              <a:rPr lang="es-ES" dirty="0">
                <a:latin typeface="Verdana" panose="020B0604030504040204" pitchFamily="34" charset="0"/>
                <a:ea typeface="Verdana" panose="020B0604030504040204" pitchFamily="34" charset="0"/>
                <a:cs typeface="Verdana" panose="020B0604030504040204" pitchFamily="34" charset="0"/>
              </a:rPr>
              <a:t>T3 = palabras de tres letras, hay 26 * 26 * 26 = 17576 opciones</a:t>
            </a:r>
          </a:p>
          <a:p>
            <a:pPr algn="just"/>
            <a:r>
              <a:rPr lang="es-ES" dirty="0">
                <a:latin typeface="Verdana" panose="020B0604030504040204" pitchFamily="34" charset="0"/>
                <a:ea typeface="Verdana" panose="020B0604030504040204" pitchFamily="34" charset="0"/>
                <a:cs typeface="Verdana" panose="020B0604030504040204" pitchFamily="34" charset="0"/>
              </a:rPr>
              <a:t>T4 = palabras de cuatro letras, hay 26 * 26 * 26 * 26 = 456976 opciones</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Sumando, total = 26 + 676 + 17576 + 456976 = 475254 palabras diferentes</a:t>
            </a: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87600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DEL PALOMAR(Dirichlet)</a:t>
            </a:r>
          </a:p>
          <a:p>
            <a:pPr algn="ct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19" name="CuadroTexto 18">
            <a:extLst>
              <a:ext uri="{FF2B5EF4-FFF2-40B4-BE49-F238E27FC236}">
                <a16:creationId xmlns:a16="http://schemas.microsoft.com/office/drawing/2014/main" id="{4EE0D01D-30F5-AE50-8DC2-D641E12A4ACD}"/>
              </a:ext>
            </a:extLst>
          </p:cNvPr>
          <p:cNvSpPr txBox="1"/>
          <p:nvPr/>
        </p:nvSpPr>
        <p:spPr>
          <a:xfrm>
            <a:off x="816087" y="1607820"/>
            <a:ext cx="9955513"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un CD hay grabadas 500.000 palabras de cuatro o menos letras minúsculas formadas de los 26 símbolos del alfabeto. Entre cada palabra hay un espacio en blanco. ¿Es posible que las 500.000 palabras sean diferentes?</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56BC5808-38F2-58FB-4885-C3675FBFF26E}"/>
              </a:ext>
            </a:extLst>
          </p:cNvPr>
          <p:cNvSpPr txBox="1"/>
          <p:nvPr/>
        </p:nvSpPr>
        <p:spPr>
          <a:xfrm>
            <a:off x="816086" y="3108047"/>
            <a:ext cx="9955513" cy="341632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a:t>
            </a:r>
          </a:p>
          <a:p>
            <a:pPr algn="just"/>
            <a:r>
              <a:rPr lang="es-ES" dirty="0">
                <a:latin typeface="Verdana" panose="020B0604030504040204" pitchFamily="34" charset="0"/>
                <a:ea typeface="Verdana" panose="020B0604030504040204" pitchFamily="34" charset="0"/>
                <a:cs typeface="Verdana" panose="020B0604030504040204" pitchFamily="34" charset="0"/>
              </a:rPr>
              <a:t>Se analiza los espacios en blanco, pueden estar adelante o atrás (con espacio o sin espacio).  </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Sumando, total = 25 + 675 + 17575 + 456975 = 475250  * 2</a:t>
            </a:r>
          </a:p>
          <a:p>
            <a:pPr algn="just"/>
            <a:r>
              <a:rPr lang="es-ES" dirty="0">
                <a:latin typeface="Verdana" panose="020B0604030504040204" pitchFamily="34" charset="0"/>
                <a:ea typeface="Verdana" panose="020B0604030504040204" pitchFamily="34" charset="0"/>
                <a:cs typeface="Verdana" panose="020B0604030504040204" pitchFamily="34" charset="0"/>
              </a:rPr>
              <a:t>Total = 950500 palabras diferentes</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CO" altLang="es-CO" dirty="0">
                <a:solidFill>
                  <a:srgbClr val="000000"/>
                </a:solidFill>
                <a:latin typeface="Verdana" panose="020B0604030504040204" pitchFamily="34" charset="0"/>
                <a:ea typeface="Verdana" panose="020B0604030504040204" pitchFamily="34" charset="0"/>
              </a:rPr>
              <a:t>Por lo tanto, es posible que las 500,000 palabras sean diferentes, siempre y cuando cada palabra de cuatro letras sea única y estén separadas por espacio en blanco.</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3" name="Rectangle 1">
            <a:extLst>
              <a:ext uri="{FF2B5EF4-FFF2-40B4-BE49-F238E27FC236}">
                <a16:creationId xmlns:a16="http://schemas.microsoft.com/office/drawing/2014/main" id="{405A11F1-083A-36F6-C43A-F14D28CD293D}"/>
              </a:ext>
            </a:extLst>
          </p:cNvPr>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CO" altLang="es-CO" sz="1800" b="0" i="0" u="none" strike="noStrike" cap="none" normalizeH="0" baseline="0" dirty="0">
                <a:ln>
                  <a:noFill/>
                </a:ln>
                <a:solidFill>
                  <a:srgbClr val="000000"/>
                </a:solidFill>
                <a:effectLst/>
                <a:latin typeface="Söhne"/>
              </a:rPr>
            </a:b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1707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GENERALIZACIÓN DEL PRINCIPIO DE PALOMAR</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72798" y="6093254"/>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86F6B073-8FBA-A750-71B7-EF3E9019C624}"/>
              </a:ext>
            </a:extLst>
          </p:cNvPr>
          <p:cNvSpPr txBox="1"/>
          <p:nvPr/>
        </p:nvSpPr>
        <p:spPr>
          <a:xfrm>
            <a:off x="819150" y="1365138"/>
            <a:ext cx="10001249" cy="2031325"/>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Teorema 2: </a:t>
            </a:r>
            <a:r>
              <a:rPr lang="es-ES" dirty="0">
                <a:latin typeface="Verdana" panose="020B0604030504040204" pitchFamily="34" charset="0"/>
                <a:ea typeface="Verdana" panose="020B0604030504040204" pitchFamily="34" charset="0"/>
                <a:cs typeface="Verdana" panose="020B0604030504040204" pitchFamily="34" charset="0"/>
              </a:rPr>
              <a:t>Si N objetos son almacenados en K cajas, entonces hay, al menos, una caja que contiene, al menos, </a:t>
            </a:r>
            <a:r>
              <a:rPr lang="es-CO" dirty="0">
                <a:latin typeface="Verdana" panose="020B0604030504040204" pitchFamily="34" charset="0"/>
                <a:ea typeface="Verdana" panose="020B0604030504040204" pitchFamily="34" charset="0"/>
              </a:rPr>
              <a:t>⌈ </a:t>
            </a:r>
            <a:r>
              <a:rPr lang="es-ES" dirty="0">
                <a:latin typeface="Verdana" panose="020B0604030504040204" pitchFamily="34" charset="0"/>
                <a:ea typeface="Verdana" panose="020B0604030504040204" pitchFamily="34" charset="0"/>
                <a:cs typeface="Verdana" panose="020B0604030504040204" pitchFamily="34" charset="0"/>
              </a:rPr>
              <a:t>N / k</a:t>
            </a:r>
            <a:r>
              <a:rPr lang="es-CO" dirty="0">
                <a:latin typeface="Verdana" panose="020B0604030504040204" pitchFamily="34" charset="0"/>
                <a:ea typeface="Verdana" panose="020B0604030504040204" pitchFamily="34" charset="0"/>
              </a:rPr>
              <a:t> ⌉</a:t>
            </a:r>
            <a:r>
              <a:rPr lang="es-ES" dirty="0">
                <a:latin typeface="Verdana" panose="020B0604030504040204" pitchFamily="34" charset="0"/>
                <a:ea typeface="Verdana" panose="020B0604030504040204" pitchFamily="34" charset="0"/>
                <a:cs typeface="Verdana" panose="020B0604030504040204" pitchFamily="34" charset="0"/>
              </a:rPr>
              <a:t> objetos.</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Donde </a:t>
            </a:r>
            <a:r>
              <a:rPr lang="es-ES" b="1" dirty="0">
                <a:latin typeface="Verdana" panose="020B0604030504040204" pitchFamily="34" charset="0"/>
                <a:ea typeface="Verdana" panose="020B0604030504040204" pitchFamily="34" charset="0"/>
                <a:cs typeface="Verdana" panose="020B0604030504040204" pitchFamily="34" charset="0"/>
              </a:rPr>
              <a:t>N</a:t>
            </a:r>
            <a:r>
              <a:rPr lang="es-ES" dirty="0">
                <a:latin typeface="Verdana" panose="020B0604030504040204" pitchFamily="34" charset="0"/>
                <a:ea typeface="Verdana" panose="020B0604030504040204" pitchFamily="34" charset="0"/>
                <a:cs typeface="Verdana" panose="020B0604030504040204" pitchFamily="34" charset="0"/>
              </a:rPr>
              <a:t> es el número de palomas y </a:t>
            </a:r>
            <a:r>
              <a:rPr lang="es-ES" b="1" dirty="0">
                <a:latin typeface="Verdana" panose="020B0604030504040204" pitchFamily="34" charset="0"/>
                <a:ea typeface="Verdana" panose="020B0604030504040204" pitchFamily="34" charset="0"/>
                <a:cs typeface="Verdana" panose="020B0604030504040204" pitchFamily="34" charset="0"/>
              </a:rPr>
              <a:t>k</a:t>
            </a:r>
            <a:r>
              <a:rPr lang="es-ES" dirty="0">
                <a:latin typeface="Verdana" panose="020B0604030504040204" pitchFamily="34" charset="0"/>
                <a:ea typeface="Verdana" panose="020B0604030504040204" pitchFamily="34" charset="0"/>
                <a:cs typeface="Verdana" panose="020B0604030504040204" pitchFamily="34" charset="0"/>
              </a:rPr>
              <a:t> es el número de nidos y los objetos es el valor o número mínimo</a:t>
            </a:r>
            <a:r>
              <a:rPr lang="es-ES" b="1" dirty="0">
                <a:latin typeface="Verdana" panose="020B0604030504040204" pitchFamily="34" charset="0"/>
                <a:ea typeface="Verdana" panose="020B0604030504040204" pitchFamily="34" charset="0"/>
                <a:cs typeface="Verdana" panose="020B0604030504040204" pitchFamily="34" charset="0"/>
              </a:rPr>
              <a:t> r o </a:t>
            </a:r>
            <a:r>
              <a:rPr lang="es-ES" b="1" dirty="0" err="1">
                <a:latin typeface="Verdana" panose="020B0604030504040204" pitchFamily="34" charset="0"/>
                <a:ea typeface="Verdana" panose="020B0604030504040204" pitchFamily="34" charset="0"/>
                <a:cs typeface="Verdana" panose="020B0604030504040204" pitchFamily="34" charset="0"/>
              </a:rPr>
              <a:t>n</a:t>
            </a:r>
            <a:r>
              <a:rPr lang="es-ES" sz="1200" b="1" dirty="0" err="1">
                <a:latin typeface="Verdana" panose="020B0604030504040204" pitchFamily="34" charset="0"/>
                <a:ea typeface="Verdana" panose="020B0604030504040204" pitchFamily="34" charset="0"/>
                <a:cs typeface="Verdana" panose="020B0604030504040204" pitchFamily="34" charset="0"/>
              </a:rPr>
              <a:t>min</a:t>
            </a:r>
            <a:r>
              <a:rPr lang="es-ES" b="1" dirty="0">
                <a:latin typeface="Verdana" panose="020B0604030504040204" pitchFamily="34" charset="0"/>
                <a:ea typeface="Verdana" panose="020B0604030504040204" pitchFamily="34" charset="0"/>
                <a:cs typeface="Verdana" panose="020B0604030504040204" pitchFamily="34" charset="0"/>
              </a:rPr>
              <a:t>. </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F8C49E30-51F5-23FF-B84A-FD8D8E641094}"/>
              </a:ext>
            </a:extLst>
          </p:cNvPr>
          <p:cNvSpPr txBox="1"/>
          <p:nvPr/>
        </p:nvSpPr>
        <p:spPr>
          <a:xfrm>
            <a:off x="819150" y="3087546"/>
            <a:ext cx="9848849" cy="646331"/>
          </a:xfrm>
          <a:prstGeom prst="rect">
            <a:avLst/>
          </a:prstGeom>
          <a:noFill/>
        </p:spPr>
        <p:txBody>
          <a:bodyPr wrap="square" rtlCol="0">
            <a:spAutoFit/>
          </a:bodyPr>
          <a:lstStyle/>
          <a:p>
            <a:r>
              <a:rPr lang="es-ES" b="1" dirty="0">
                <a:latin typeface="Verdana" panose="020B0604030504040204" pitchFamily="34" charset="0"/>
                <a:ea typeface="Verdana" panose="020B0604030504040204" pitchFamily="34" charset="0"/>
                <a:cs typeface="Verdana" panose="020B0604030504040204" pitchFamily="34" charset="0"/>
              </a:rPr>
              <a:t>Demostración Rosen: </a:t>
            </a:r>
            <a:br>
              <a:rPr lang="es-ES" dirty="0">
                <a:latin typeface="Verdana" panose="020B0604030504040204" pitchFamily="34" charset="0"/>
                <a:ea typeface="Verdana" panose="020B0604030504040204" pitchFamily="34" charset="0"/>
                <a:cs typeface="Verdana" panose="020B0604030504040204" pitchFamily="34" charset="0"/>
              </a:rPr>
            </a:b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10" name="CuadroTexto 9">
            <a:extLst>
              <a:ext uri="{FF2B5EF4-FFF2-40B4-BE49-F238E27FC236}">
                <a16:creationId xmlns:a16="http://schemas.microsoft.com/office/drawing/2014/main" id="{25A4B45E-3E94-A8E4-8041-052BE9F8FC43}"/>
              </a:ext>
            </a:extLst>
          </p:cNvPr>
          <p:cNvSpPr txBox="1"/>
          <p:nvPr/>
        </p:nvSpPr>
        <p:spPr>
          <a:xfrm>
            <a:off x="819150" y="3639238"/>
            <a:ext cx="9848849" cy="2031325"/>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Un tipo común de problemas es la consulta del número mínimo de objetos tal que r de esos objetos deben estar en una de las k cajas cuando esos objetos son distribuidos entre las cajas. Cuando tenemos N objetos el principio del palomar generalizado nos dice que deben existir al menos r objetos en una de las cajas siempre y cuando (N / k) ≥ r.</a:t>
            </a:r>
          </a:p>
          <a:p>
            <a:pPr algn="just"/>
            <a:r>
              <a:rPr lang="es-ES" dirty="0">
                <a:latin typeface="Verdana" panose="020B0604030504040204" pitchFamily="34" charset="0"/>
                <a:ea typeface="Verdana" panose="020B0604030504040204" pitchFamily="34" charset="0"/>
                <a:cs typeface="Verdana" panose="020B0604030504040204" pitchFamily="34" charset="0"/>
              </a:rPr>
              <a:t>El más pequeño entero N con (N / k) &gt; r-1, particularmente, N = k(r- 1) + 1, es el entero más pequeño que satisface la desigualdad (N / k) ≥ r.</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95867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DEMOSTRACIÓN ROSEN</a:t>
            </a:r>
          </a:p>
          <a:p>
            <a:pPr algn="ct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3" name="CuadroTexto 2">
            <a:extLst>
              <a:ext uri="{FF2B5EF4-FFF2-40B4-BE49-F238E27FC236}">
                <a16:creationId xmlns:a16="http://schemas.microsoft.com/office/drawing/2014/main" id="{CBC1C424-CFF9-7749-0109-1198A18B306F}"/>
              </a:ext>
            </a:extLst>
          </p:cNvPr>
          <p:cNvSpPr txBox="1"/>
          <p:nvPr/>
        </p:nvSpPr>
        <p:spPr>
          <a:xfrm>
            <a:off x="1523999" y="1367249"/>
            <a:ext cx="9144001"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un grupo de 100 personas ¿cuántas pueden haber nacido el mismo mes?</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7" name="CuadroTexto 6">
            <a:extLst>
              <a:ext uri="{FF2B5EF4-FFF2-40B4-BE49-F238E27FC236}">
                <a16:creationId xmlns:a16="http://schemas.microsoft.com/office/drawing/2014/main" id="{3EC650BB-E8DE-CA25-C20F-664E6CB521FA}"/>
              </a:ext>
            </a:extLst>
          </p:cNvPr>
          <p:cNvSpPr txBox="1"/>
          <p:nvPr/>
        </p:nvSpPr>
        <p:spPr>
          <a:xfrm>
            <a:off x="1523996" y="2316153"/>
            <a:ext cx="9144001"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¿Cuál es el mínimo número de estudiantes requerido para asegurar que, al menos, seis recibirán la misma calificación, si las cinco posibles calificaciones son: E, B, A, I, D?</a:t>
            </a:r>
            <a:endParaRPr lang="es-CO" dirty="0">
              <a:latin typeface="Verdana" panose="020B0604030504040204" pitchFamily="34" charset="0"/>
              <a:ea typeface="Verdana" panose="020B0604030504040204" pitchFamily="34" charset="0"/>
              <a:cs typeface="Verdana" panose="020B0604030504040204" pitchFamily="34" charset="0"/>
            </a:endParaRPr>
          </a:p>
        </p:txBody>
      </p:sp>
      <p:cxnSp>
        <p:nvCxnSpPr>
          <p:cNvPr id="9" name="Conector recto 8">
            <a:extLst>
              <a:ext uri="{FF2B5EF4-FFF2-40B4-BE49-F238E27FC236}">
                <a16:creationId xmlns:a16="http://schemas.microsoft.com/office/drawing/2014/main" id="{6E746FC3-CBC1-9932-A939-568F3E31826A}"/>
              </a:ext>
            </a:extLst>
          </p:cNvPr>
          <p:cNvCxnSpPr>
            <a:cxnSpLocks/>
          </p:cNvCxnSpPr>
          <p:nvPr/>
        </p:nvCxnSpPr>
        <p:spPr>
          <a:xfrm>
            <a:off x="1523996" y="2166919"/>
            <a:ext cx="9144001"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76236A12-CC8E-5339-7032-DD8B027BAE1A}"/>
              </a:ext>
            </a:extLst>
          </p:cNvPr>
          <p:cNvSpPr txBox="1"/>
          <p:nvPr/>
        </p:nvSpPr>
        <p:spPr>
          <a:xfrm>
            <a:off x="1523996" y="3578234"/>
            <a:ext cx="9144001"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13 personas tienen por nombres Leonardo, Holmes y Carlos y por apellidos Bustamante, Bonilla, Salgado y Vélez. Muestre que al menos 2 personas tienen el mismo nombre y apellido.</a:t>
            </a:r>
            <a:endParaRPr lang="es-CO" dirty="0">
              <a:latin typeface="Verdana" panose="020B0604030504040204" pitchFamily="34" charset="0"/>
              <a:ea typeface="Verdana" panose="020B0604030504040204" pitchFamily="34" charset="0"/>
              <a:cs typeface="Verdana" panose="020B0604030504040204" pitchFamily="34" charset="0"/>
            </a:endParaRPr>
          </a:p>
        </p:txBody>
      </p:sp>
      <p:cxnSp>
        <p:nvCxnSpPr>
          <p:cNvPr id="18" name="Conector recto 17">
            <a:extLst>
              <a:ext uri="{FF2B5EF4-FFF2-40B4-BE49-F238E27FC236}">
                <a16:creationId xmlns:a16="http://schemas.microsoft.com/office/drawing/2014/main" id="{ACACB7AA-C335-B5FD-A144-C8D90DD0C5E4}"/>
              </a:ext>
            </a:extLst>
          </p:cNvPr>
          <p:cNvCxnSpPr>
            <a:cxnSpLocks/>
          </p:cNvCxnSpPr>
          <p:nvPr/>
        </p:nvCxnSpPr>
        <p:spPr>
          <a:xfrm>
            <a:off x="1523996" y="3429000"/>
            <a:ext cx="9144001"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4EE0D01D-30F5-AE50-8DC2-D641E12A4ACD}"/>
              </a:ext>
            </a:extLst>
          </p:cNvPr>
          <p:cNvSpPr txBox="1"/>
          <p:nvPr/>
        </p:nvSpPr>
        <p:spPr>
          <a:xfrm>
            <a:off x="1523996" y="4945380"/>
            <a:ext cx="9144001"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Si se seleccionan 30 personas entonces hay al menos 5 personas que nacieron el mismo día de la semana.</a:t>
            </a:r>
            <a:endParaRPr lang="es-CO" dirty="0">
              <a:latin typeface="Verdana" panose="020B0604030504040204" pitchFamily="34" charset="0"/>
              <a:ea typeface="Verdana" panose="020B0604030504040204" pitchFamily="34" charset="0"/>
              <a:cs typeface="Verdana" panose="020B0604030504040204" pitchFamily="34" charset="0"/>
            </a:endParaRPr>
          </a:p>
        </p:txBody>
      </p:sp>
      <p:cxnSp>
        <p:nvCxnSpPr>
          <p:cNvPr id="20" name="Conector recto 19">
            <a:extLst>
              <a:ext uri="{FF2B5EF4-FFF2-40B4-BE49-F238E27FC236}">
                <a16:creationId xmlns:a16="http://schemas.microsoft.com/office/drawing/2014/main" id="{BA9C8178-A0AE-C4AF-33B4-4425B9411709}"/>
              </a:ext>
            </a:extLst>
          </p:cNvPr>
          <p:cNvCxnSpPr>
            <a:cxnSpLocks/>
          </p:cNvCxnSpPr>
          <p:nvPr/>
        </p:nvCxnSpPr>
        <p:spPr>
          <a:xfrm>
            <a:off x="1523996" y="4796146"/>
            <a:ext cx="914400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6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DEMOSTRACIÓN ROSEN</a:t>
            </a:r>
          </a:p>
          <a:p>
            <a:pPr algn="ct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3" name="CuadroTexto 2">
            <a:extLst>
              <a:ext uri="{FF2B5EF4-FFF2-40B4-BE49-F238E27FC236}">
                <a16:creationId xmlns:a16="http://schemas.microsoft.com/office/drawing/2014/main" id="{CBC1C424-CFF9-7749-0109-1198A18B306F}"/>
              </a:ext>
            </a:extLst>
          </p:cNvPr>
          <p:cNvSpPr txBox="1"/>
          <p:nvPr/>
        </p:nvSpPr>
        <p:spPr>
          <a:xfrm>
            <a:off x="1059543" y="1367249"/>
            <a:ext cx="9608457"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un grupo de 100 personas ¿cuántas pueden haber nacido el mismo mes?</a:t>
            </a:r>
            <a:endParaRPr lang="es-CO" dirty="0">
              <a:latin typeface="Verdana" panose="020B0604030504040204" pitchFamily="34" charset="0"/>
              <a:ea typeface="Verdana" panose="020B0604030504040204" pitchFamily="34" charset="0"/>
              <a:cs typeface="Verdana" panose="020B0604030504040204" pitchFamily="34" charset="0"/>
            </a:endParaRPr>
          </a:p>
        </p:txBody>
      </p:sp>
      <p:cxnSp>
        <p:nvCxnSpPr>
          <p:cNvPr id="9" name="Conector recto 8">
            <a:extLst>
              <a:ext uri="{FF2B5EF4-FFF2-40B4-BE49-F238E27FC236}">
                <a16:creationId xmlns:a16="http://schemas.microsoft.com/office/drawing/2014/main" id="{6E746FC3-CBC1-9932-A939-568F3E31826A}"/>
              </a:ext>
            </a:extLst>
          </p:cNvPr>
          <p:cNvCxnSpPr>
            <a:cxnSpLocks/>
          </p:cNvCxnSpPr>
          <p:nvPr/>
        </p:nvCxnSpPr>
        <p:spPr>
          <a:xfrm>
            <a:off x="1523996" y="2166919"/>
            <a:ext cx="914400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372EF6B7-ACD7-0E23-55BE-7128C3366447}"/>
              </a:ext>
            </a:extLst>
          </p:cNvPr>
          <p:cNvSpPr txBox="1"/>
          <p:nvPr/>
        </p:nvSpPr>
        <p:spPr>
          <a:xfrm>
            <a:off x="1059539" y="2678593"/>
            <a:ext cx="9608457" cy="1477328"/>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a:t>
            </a: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En un grupo de 100 personas siempre hay </a:t>
            </a:r>
            <a:r>
              <a:rPr lang="es-CO" dirty="0">
                <a:latin typeface="Verdana" panose="020B0604030504040204" pitchFamily="34" charset="0"/>
                <a:ea typeface="Verdana" panose="020B0604030504040204" pitchFamily="34" charset="0"/>
              </a:rPr>
              <a:t>⌈ </a:t>
            </a:r>
            <a:r>
              <a:rPr lang="es-ES" dirty="0">
                <a:latin typeface="Verdana" panose="020B0604030504040204" pitchFamily="34" charset="0"/>
                <a:ea typeface="Verdana" panose="020B0604030504040204" pitchFamily="34" charset="0"/>
              </a:rPr>
              <a:t>100</a:t>
            </a:r>
            <a:r>
              <a:rPr lang="es-ES" dirty="0">
                <a:latin typeface="Verdana" panose="020B0604030504040204" pitchFamily="34" charset="0"/>
                <a:ea typeface="Verdana" panose="020B0604030504040204" pitchFamily="34" charset="0"/>
                <a:cs typeface="Verdana" panose="020B0604030504040204" pitchFamily="34" charset="0"/>
              </a:rPr>
              <a:t> / 12</a:t>
            </a:r>
            <a:r>
              <a:rPr lang="es-CO" dirty="0">
                <a:latin typeface="Verdana" panose="020B0604030504040204" pitchFamily="34" charset="0"/>
                <a:ea typeface="Verdana" panose="020B0604030504040204" pitchFamily="34" charset="0"/>
              </a:rPr>
              <a:t> ⌉ = 9 nacieron el mismo mes</a:t>
            </a:r>
            <a:r>
              <a:rPr lang="es-ES" dirty="0">
                <a:latin typeface="Verdana" panose="020B0604030504040204" pitchFamily="34" charset="0"/>
                <a:ea typeface="Verdana" panose="020B0604030504040204" pitchFamily="34" charset="0"/>
                <a:cs typeface="Verdana" panose="020B0604030504040204" pitchFamily="34" charset="0"/>
              </a:rPr>
              <a:t> </a:t>
            </a: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3475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DEMOSTRACIÓN ROSEN</a:t>
            </a:r>
          </a:p>
          <a:p>
            <a:pPr algn="ct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3EC650BB-E8DE-CA25-C20F-664E6CB521FA}"/>
              </a:ext>
            </a:extLst>
          </p:cNvPr>
          <p:cNvSpPr txBox="1"/>
          <p:nvPr/>
        </p:nvSpPr>
        <p:spPr>
          <a:xfrm>
            <a:off x="1117600" y="1426968"/>
            <a:ext cx="9550397"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¿Cuál es el mínimo número de estudiantes requerido para asegurar que, al menos, seis recibirán la misma calificación, si las cinco posibles calificaciones son: E, B, A, I, D?</a:t>
            </a:r>
            <a:endParaRPr lang="es-CO" dirty="0">
              <a:latin typeface="Verdana" panose="020B0604030504040204" pitchFamily="34" charset="0"/>
              <a:ea typeface="Verdana" panose="020B0604030504040204" pitchFamily="34" charset="0"/>
              <a:cs typeface="Verdana" panose="020B0604030504040204" pitchFamily="34" charset="0"/>
            </a:endParaRPr>
          </a:p>
        </p:txBody>
      </p:sp>
      <p:cxnSp>
        <p:nvCxnSpPr>
          <p:cNvPr id="18" name="Conector recto 17">
            <a:extLst>
              <a:ext uri="{FF2B5EF4-FFF2-40B4-BE49-F238E27FC236}">
                <a16:creationId xmlns:a16="http://schemas.microsoft.com/office/drawing/2014/main" id="{ACACB7AA-C335-B5FD-A144-C8D90DD0C5E4}"/>
              </a:ext>
            </a:extLst>
          </p:cNvPr>
          <p:cNvCxnSpPr>
            <a:cxnSpLocks/>
          </p:cNvCxnSpPr>
          <p:nvPr/>
        </p:nvCxnSpPr>
        <p:spPr>
          <a:xfrm>
            <a:off x="1349825" y="2616200"/>
            <a:ext cx="9144001"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4EE0D01D-30F5-AE50-8DC2-D641E12A4ACD}"/>
              </a:ext>
            </a:extLst>
          </p:cNvPr>
          <p:cNvSpPr txBox="1"/>
          <p:nvPr/>
        </p:nvSpPr>
        <p:spPr>
          <a:xfrm>
            <a:off x="1156041" y="3011602"/>
            <a:ext cx="9531567" cy="341632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marL="285750" indent="-285750" algn="just">
              <a:buFont typeface="Arial" panose="020B0604020202020204" pitchFamily="34" charset="0"/>
              <a:buChar char="•"/>
            </a:pPr>
            <a:r>
              <a:rPr lang="es-ES" dirty="0">
                <a:latin typeface="Verdana" panose="020B0604030504040204" pitchFamily="34" charset="0"/>
                <a:ea typeface="Verdana" panose="020B0604030504040204" pitchFamily="34" charset="0"/>
                <a:cs typeface="Verdana" panose="020B0604030504040204" pitchFamily="34" charset="0"/>
              </a:rPr>
              <a:t>Para asegurar que al menos seis estudiantes reciben la misma calificación es el menor entero N tal que </a:t>
            </a:r>
            <a:r>
              <a:rPr lang="es-CO" dirty="0">
                <a:latin typeface="Verdana" panose="020B0604030504040204" pitchFamily="34" charset="0"/>
                <a:ea typeface="Verdana" panose="020B0604030504040204" pitchFamily="34" charset="0"/>
              </a:rPr>
              <a:t>⌈ </a:t>
            </a:r>
            <a:r>
              <a:rPr lang="es-ES" dirty="0">
                <a:latin typeface="Verdana" panose="020B0604030504040204" pitchFamily="34" charset="0"/>
                <a:ea typeface="Verdana" panose="020B0604030504040204" pitchFamily="34" charset="0"/>
              </a:rPr>
              <a:t>N</a:t>
            </a:r>
            <a:r>
              <a:rPr lang="es-ES" dirty="0">
                <a:latin typeface="Verdana" panose="020B0604030504040204" pitchFamily="34" charset="0"/>
                <a:ea typeface="Verdana" panose="020B0604030504040204" pitchFamily="34" charset="0"/>
                <a:cs typeface="Verdana" panose="020B0604030504040204" pitchFamily="34" charset="0"/>
              </a:rPr>
              <a:t> / 5</a:t>
            </a:r>
            <a:r>
              <a:rPr lang="es-CO" dirty="0">
                <a:latin typeface="Verdana" panose="020B0604030504040204" pitchFamily="34" charset="0"/>
                <a:ea typeface="Verdana" panose="020B0604030504040204" pitchFamily="34" charset="0"/>
              </a:rPr>
              <a:t> ⌉ = 6.</a:t>
            </a:r>
          </a:p>
          <a:p>
            <a:pPr marL="285750" indent="-285750" algn="just">
              <a:buFont typeface="Arial" panose="020B0604020202020204" pitchFamily="34" charset="0"/>
              <a:buChar char="•"/>
            </a:pPr>
            <a:endParaRPr lang="es-CO"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s-CO" dirty="0">
                <a:latin typeface="Verdana" panose="020B0604030504040204" pitchFamily="34" charset="0"/>
                <a:ea typeface="Verdana" panose="020B0604030504040204" pitchFamily="34" charset="0"/>
              </a:rPr>
              <a:t>Si N = 25, es posible que cada una de las cinco calificaciones sea asignada a cinco estudiantes, de forma que No hay seis que reciban la misma.</a:t>
            </a:r>
            <a:r>
              <a:rPr lang="es-ES" dirty="0">
                <a:latin typeface="Verdana" panose="020B0604030504040204" pitchFamily="34" charset="0"/>
                <a:ea typeface="Verdana" panose="020B0604030504040204" pitchFamily="34" charset="0"/>
                <a:cs typeface="Verdana" panose="020B0604030504040204" pitchFamily="34" charset="0"/>
              </a:rPr>
              <a:t> N = (r- 1) k+ 1.</a:t>
            </a:r>
            <a:endParaRPr lang="es-CO"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endParaRPr lang="es-CO"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s-CO" dirty="0">
                <a:latin typeface="Verdana" panose="020B0604030504040204" pitchFamily="34" charset="0"/>
                <a:ea typeface="Verdana" panose="020B0604030504040204" pitchFamily="34" charset="0"/>
              </a:rPr>
              <a:t>Por lo tanto, N = 26 es el número mínimo de estudiantes para garantizar que al menos seis reciben la misma calificación.</a:t>
            </a:r>
          </a:p>
          <a:p>
            <a:pPr algn="just"/>
            <a:r>
              <a:rPr lang="es-CO" dirty="0">
                <a:latin typeface="Verdana" panose="020B0604030504040204" pitchFamily="34" charset="0"/>
                <a:ea typeface="Verdana" panose="020B0604030504040204" pitchFamily="34" charset="0"/>
              </a:rPr>
              <a:t> </a:t>
            </a:r>
            <a:endParaRPr lang="es-E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55413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DEMOSTRACIÓN ROSEN</a:t>
            </a:r>
          </a:p>
          <a:p>
            <a:pPr algn="ct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3" name="CuadroTexto 2">
            <a:extLst>
              <a:ext uri="{FF2B5EF4-FFF2-40B4-BE49-F238E27FC236}">
                <a16:creationId xmlns:a16="http://schemas.microsoft.com/office/drawing/2014/main" id="{CBC1C424-CFF9-7749-0109-1198A18B306F}"/>
              </a:ext>
            </a:extLst>
          </p:cNvPr>
          <p:cNvSpPr txBox="1"/>
          <p:nvPr/>
        </p:nvSpPr>
        <p:spPr>
          <a:xfrm>
            <a:off x="1059543" y="1367249"/>
            <a:ext cx="9608457" cy="1200329"/>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CO" b="1" dirty="0">
                <a:latin typeface="Verdana" panose="020B0604030504040204" pitchFamily="34" charset="0"/>
                <a:ea typeface="Verdana" panose="020B0604030504040204" pitchFamily="34" charset="0"/>
                <a:cs typeface="Verdana" panose="020B0604030504040204" pitchFamily="34" charset="0"/>
              </a:rPr>
              <a:t> </a:t>
            </a:r>
            <a:r>
              <a:rPr lang="es-CO" dirty="0">
                <a:latin typeface="Verdana" panose="020B0604030504040204" pitchFamily="34" charset="0"/>
                <a:ea typeface="Verdana" panose="020B0604030504040204" pitchFamily="34" charset="0"/>
                <a:cs typeface="Verdana" panose="020B0604030504040204" pitchFamily="34" charset="0"/>
              </a:rPr>
              <a:t>Demuestra que en un conjunto de seis clases debe haber dos que tienen el lugar el mismo día, suponiendo que las clases solo se ven de lunes a viernes.</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p:txBody>
      </p:sp>
      <p:sp>
        <p:nvSpPr>
          <p:cNvPr id="5" name="CuadroTexto 4">
            <a:extLst>
              <a:ext uri="{FF2B5EF4-FFF2-40B4-BE49-F238E27FC236}">
                <a16:creationId xmlns:a16="http://schemas.microsoft.com/office/drawing/2014/main" id="{372EF6B7-ACD7-0E23-55BE-7128C3366447}"/>
              </a:ext>
            </a:extLst>
          </p:cNvPr>
          <p:cNvSpPr txBox="1"/>
          <p:nvPr/>
        </p:nvSpPr>
        <p:spPr>
          <a:xfrm>
            <a:off x="1059539" y="2678593"/>
            <a:ext cx="9608457" cy="2585323"/>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a:t>
            </a: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Se analiza, como hay seis clases, solo cinco días hábiles para laborar, el P.P demuestra que hay que repetir al menos dos clases el mismo día. </a:t>
            </a:r>
            <a:endParaRPr lang="es-ES" dirty="0">
              <a:latin typeface="Verdana" panose="020B0604030504040204" pitchFamily="34" charset="0"/>
              <a:ea typeface="Verdana" panose="020B0604030504040204" pitchFamily="34" charset="0"/>
              <a:cs typeface="Verdana" panose="020B0604030504040204" pitchFamily="34" charset="0"/>
            </a:endParaRPr>
          </a:p>
          <a:p>
            <a:pPr algn="just"/>
            <a:endParaRPr lang="es-CO" dirty="0">
              <a:latin typeface="Verdana" panose="020B0604030504040204" pitchFamily="34" charset="0"/>
              <a:ea typeface="Verdana" panose="020B0604030504040204" pitchFamily="34" charset="0"/>
              <a:cs typeface="Verdana" panose="020B0604030504040204" pitchFamily="34" charset="0"/>
            </a:endParaRPr>
          </a:p>
          <a:p>
            <a:pPr algn="just"/>
            <a:r>
              <a:rPr lang="es-CO" dirty="0">
                <a:latin typeface="Verdana" panose="020B0604030504040204" pitchFamily="34" charset="0"/>
                <a:ea typeface="Verdana" panose="020B0604030504040204" pitchFamily="34" charset="0"/>
                <a:cs typeface="Verdana" panose="020B0604030504040204" pitchFamily="34" charset="0"/>
              </a:rPr>
              <a:t>Donde, </a:t>
            </a:r>
          </a:p>
          <a:p>
            <a:pPr algn="just"/>
            <a:r>
              <a:rPr lang="es-CO" dirty="0">
                <a:latin typeface="Verdana" panose="020B0604030504040204" pitchFamily="34" charset="0"/>
                <a:ea typeface="Verdana" panose="020B0604030504040204" pitchFamily="34" charset="0"/>
                <a:cs typeface="Verdana" panose="020B0604030504040204" pitchFamily="34" charset="0"/>
              </a:rPr>
              <a:t>N = 6 ; k = 5 ; n = 2</a:t>
            </a:r>
          </a:p>
          <a:p>
            <a:pPr algn="just"/>
            <a:r>
              <a:rPr lang="es-CO" dirty="0">
                <a:latin typeface="Verdana" panose="020B0604030504040204" pitchFamily="34" charset="0"/>
                <a:ea typeface="Verdana" panose="020B0604030504040204" pitchFamily="34" charset="0"/>
              </a:rPr>
              <a:t>⌈ </a:t>
            </a:r>
            <a:r>
              <a:rPr lang="es-ES" dirty="0">
                <a:latin typeface="Verdana" panose="020B0604030504040204" pitchFamily="34" charset="0"/>
                <a:ea typeface="Verdana" panose="020B0604030504040204" pitchFamily="34" charset="0"/>
              </a:rPr>
              <a:t>6</a:t>
            </a:r>
            <a:r>
              <a:rPr lang="es-ES" dirty="0">
                <a:latin typeface="Verdana" panose="020B0604030504040204" pitchFamily="34" charset="0"/>
                <a:ea typeface="Verdana" panose="020B0604030504040204" pitchFamily="34" charset="0"/>
                <a:cs typeface="Verdana" panose="020B0604030504040204" pitchFamily="34" charset="0"/>
              </a:rPr>
              <a:t> / 5</a:t>
            </a:r>
            <a:r>
              <a:rPr lang="es-CO" dirty="0">
                <a:latin typeface="Verdana" panose="020B0604030504040204" pitchFamily="34" charset="0"/>
                <a:ea typeface="Verdana" panose="020B0604030504040204" pitchFamily="34" charset="0"/>
              </a:rPr>
              <a:t> ⌉ = 2.</a:t>
            </a: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976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DEMOSTRACIÓN ROSEN</a:t>
            </a:r>
          </a:p>
          <a:p>
            <a:pPr algn="ct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3" name="CuadroTexto 2">
            <a:extLst>
              <a:ext uri="{FF2B5EF4-FFF2-40B4-BE49-F238E27FC236}">
                <a16:creationId xmlns:a16="http://schemas.microsoft.com/office/drawing/2014/main" id="{CBC1C424-CFF9-7749-0109-1198A18B306F}"/>
              </a:ext>
            </a:extLst>
          </p:cNvPr>
          <p:cNvSpPr txBox="1"/>
          <p:nvPr/>
        </p:nvSpPr>
        <p:spPr>
          <a:xfrm>
            <a:off x="1059543" y="1367249"/>
            <a:ext cx="9608457"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CO" b="1" dirty="0">
                <a:latin typeface="Verdana" panose="020B0604030504040204" pitchFamily="34" charset="0"/>
                <a:ea typeface="Verdana" panose="020B0604030504040204" pitchFamily="34" charset="0"/>
                <a:cs typeface="Verdana" panose="020B0604030504040204" pitchFamily="34" charset="0"/>
              </a:rPr>
              <a:t> </a:t>
            </a:r>
            <a:r>
              <a:rPr lang="es-CO" dirty="0">
                <a:latin typeface="Verdana" panose="020B0604030504040204" pitchFamily="34" charset="0"/>
                <a:ea typeface="Verdana" panose="020B0604030504040204" pitchFamily="34" charset="0"/>
                <a:cs typeface="Verdana" panose="020B0604030504040204" pitchFamily="34" charset="0"/>
              </a:rPr>
              <a:t>Demuestra que hay al menos dos personas en el estado Ohio (cuya población es 12 millones) que tienen </a:t>
            </a:r>
            <a:r>
              <a:rPr lang="es-MX" dirty="0">
                <a:latin typeface="Verdana" panose="020B0604030504040204" pitchFamily="34" charset="0"/>
                <a:ea typeface="Verdana" panose="020B0604030504040204" pitchFamily="34" charset="0"/>
                <a:cs typeface="Verdana" panose="020B0604030504040204" pitchFamily="34" charset="0"/>
              </a:rPr>
              <a:t>las mismas tres letras iniciales</a:t>
            </a:r>
            <a:r>
              <a:rPr lang="es-CO" dirty="0">
                <a:latin typeface="Verdana" panose="020B0604030504040204" pitchFamily="34" charset="0"/>
                <a:ea typeface="Verdana" panose="020B0604030504040204" pitchFamily="34" charset="0"/>
                <a:cs typeface="Verdana" panose="020B0604030504040204" pitchFamily="34" charset="0"/>
              </a:rPr>
              <a:t> en su apellido y cumplen años el mismo día.</a:t>
            </a:r>
            <a:endParaRPr lang="es-ES" dirty="0">
              <a:latin typeface="Verdana" panose="020B0604030504040204" pitchFamily="34" charset="0"/>
              <a:ea typeface="Verdana" panose="020B0604030504040204" pitchFamily="34" charset="0"/>
              <a:cs typeface="Verdana" panose="020B0604030504040204" pitchFamily="34" charset="0"/>
            </a:endParaRPr>
          </a:p>
        </p:txBody>
      </p:sp>
      <p:sp>
        <p:nvSpPr>
          <p:cNvPr id="5" name="CuadroTexto 4">
            <a:extLst>
              <a:ext uri="{FF2B5EF4-FFF2-40B4-BE49-F238E27FC236}">
                <a16:creationId xmlns:a16="http://schemas.microsoft.com/office/drawing/2014/main" id="{372EF6B7-ACD7-0E23-55BE-7128C3366447}"/>
              </a:ext>
            </a:extLst>
          </p:cNvPr>
          <p:cNvSpPr txBox="1"/>
          <p:nvPr/>
        </p:nvSpPr>
        <p:spPr>
          <a:xfrm>
            <a:off x="1163143" y="2330205"/>
            <a:ext cx="9608457" cy="3970318"/>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a:t>
            </a: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Se analiza, el valor de N que es 12.000.000 personas  y k existen 6432816 posibilidades para los apellidos y cumpleaños, las posibilidades se calculan 26 * 26 * 26 * 366 (años bisiestos).</a:t>
            </a:r>
          </a:p>
          <a:p>
            <a:pPr algn="just"/>
            <a:endParaRPr lang="es-MX"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Por lo tanto, según el P.P generalizado </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endParaRPr lang="es-CO" dirty="0">
              <a:latin typeface="Verdana" panose="020B0604030504040204" pitchFamily="34" charset="0"/>
              <a:ea typeface="Verdana" panose="020B0604030504040204" pitchFamily="34" charset="0"/>
              <a:cs typeface="Verdana" panose="020B0604030504040204" pitchFamily="34" charset="0"/>
            </a:endParaRPr>
          </a:p>
          <a:p>
            <a:pPr algn="just"/>
            <a:r>
              <a:rPr lang="es-CO" dirty="0">
                <a:latin typeface="Verdana" panose="020B0604030504040204" pitchFamily="34" charset="0"/>
                <a:ea typeface="Verdana" panose="020B0604030504040204" pitchFamily="34" charset="0"/>
                <a:cs typeface="Verdana" panose="020B0604030504040204" pitchFamily="34" charset="0"/>
              </a:rPr>
              <a:t>Donde, </a:t>
            </a:r>
          </a:p>
          <a:p>
            <a:pPr algn="just"/>
            <a:r>
              <a:rPr lang="es-CO" dirty="0">
                <a:latin typeface="Verdana" panose="020B0604030504040204" pitchFamily="34" charset="0"/>
                <a:ea typeface="Verdana" panose="020B0604030504040204" pitchFamily="34" charset="0"/>
                <a:cs typeface="Verdana" panose="020B0604030504040204" pitchFamily="34" charset="0"/>
              </a:rPr>
              <a:t>N = 12000000 ; k = </a:t>
            </a:r>
            <a:r>
              <a:rPr lang="es-MX" dirty="0">
                <a:latin typeface="Verdana" panose="020B0604030504040204" pitchFamily="34" charset="0"/>
                <a:ea typeface="Verdana" panose="020B0604030504040204" pitchFamily="34" charset="0"/>
                <a:cs typeface="Verdana" panose="020B0604030504040204" pitchFamily="34" charset="0"/>
              </a:rPr>
              <a:t>6432816</a:t>
            </a:r>
            <a:r>
              <a:rPr lang="es-CO" dirty="0">
                <a:latin typeface="Verdana" panose="020B0604030504040204" pitchFamily="34" charset="0"/>
                <a:ea typeface="Verdana" panose="020B0604030504040204" pitchFamily="34" charset="0"/>
                <a:cs typeface="Verdana" panose="020B0604030504040204" pitchFamily="34" charset="0"/>
              </a:rPr>
              <a:t> ; n = 2</a:t>
            </a:r>
          </a:p>
          <a:p>
            <a:pPr algn="just"/>
            <a:r>
              <a:rPr lang="es-CO" dirty="0">
                <a:latin typeface="Verdana" panose="020B0604030504040204" pitchFamily="34" charset="0"/>
                <a:ea typeface="Verdana" panose="020B0604030504040204" pitchFamily="34" charset="0"/>
              </a:rPr>
              <a:t>⌈ </a:t>
            </a:r>
            <a:r>
              <a:rPr lang="es-CO" dirty="0">
                <a:latin typeface="Verdana" panose="020B0604030504040204" pitchFamily="34" charset="0"/>
                <a:ea typeface="Verdana" panose="020B0604030504040204" pitchFamily="34" charset="0"/>
                <a:cs typeface="Verdana" panose="020B0604030504040204" pitchFamily="34" charset="0"/>
              </a:rPr>
              <a:t>12000000</a:t>
            </a:r>
            <a:r>
              <a:rPr lang="es-ES" dirty="0">
                <a:latin typeface="Verdana" panose="020B0604030504040204" pitchFamily="34" charset="0"/>
                <a:ea typeface="Verdana" panose="020B0604030504040204" pitchFamily="34" charset="0"/>
                <a:cs typeface="Verdana" panose="020B0604030504040204" pitchFamily="34" charset="0"/>
              </a:rPr>
              <a:t> / </a:t>
            </a:r>
            <a:r>
              <a:rPr lang="es-MX" dirty="0">
                <a:latin typeface="Verdana" panose="020B0604030504040204" pitchFamily="34" charset="0"/>
                <a:ea typeface="Verdana" panose="020B0604030504040204" pitchFamily="34" charset="0"/>
                <a:cs typeface="Verdana" panose="020B0604030504040204" pitchFamily="34" charset="0"/>
              </a:rPr>
              <a:t>6432816</a:t>
            </a:r>
            <a:r>
              <a:rPr lang="es-CO" dirty="0">
                <a:latin typeface="Verdana" panose="020B0604030504040204" pitchFamily="34" charset="0"/>
                <a:ea typeface="Verdana" panose="020B0604030504040204" pitchFamily="34" charset="0"/>
              </a:rPr>
              <a:t> ⌉ </a:t>
            </a:r>
            <a:r>
              <a:rPr lang="es-CO">
                <a:latin typeface="Verdana" panose="020B0604030504040204" pitchFamily="34" charset="0"/>
                <a:ea typeface="Verdana" panose="020B0604030504040204" pitchFamily="34" charset="0"/>
              </a:rPr>
              <a:t>= </a:t>
            </a:r>
            <a:r>
              <a:rPr lang="es-CO" dirty="0">
                <a:latin typeface="Verdana" panose="020B0604030504040204" pitchFamily="34" charset="0"/>
                <a:ea typeface="Verdana" panose="020B0604030504040204" pitchFamily="34" charset="0"/>
              </a:rPr>
              <a:t>2</a:t>
            </a:r>
            <a:r>
              <a:rPr lang="es-CO">
                <a:latin typeface="Verdana" panose="020B0604030504040204" pitchFamily="34" charset="0"/>
                <a:ea typeface="Verdana" panose="020B0604030504040204" pitchFamily="34" charset="0"/>
              </a:rPr>
              <a:t> </a:t>
            </a:r>
            <a:r>
              <a:rPr lang="es-CO" dirty="0">
                <a:latin typeface="Verdana" panose="020B0604030504040204" pitchFamily="34" charset="0"/>
                <a:ea typeface="Verdana" panose="020B0604030504040204" pitchFamily="34" charset="0"/>
              </a:rPr>
              <a:t>personas que tienen las mismas iniciales en su apellido y fecha de cumpleaños</a:t>
            </a: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18979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EJERCICIOS ADICIONALES</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5" name="CuadroTexto 4">
            <a:extLst>
              <a:ext uri="{FF2B5EF4-FFF2-40B4-BE49-F238E27FC236}">
                <a16:creationId xmlns:a16="http://schemas.microsoft.com/office/drawing/2014/main" id="{52E49298-C9C0-6303-6D40-8B9B2DB862A7}"/>
              </a:ext>
            </a:extLst>
          </p:cNvPr>
          <p:cNvSpPr txBox="1"/>
          <p:nvPr/>
        </p:nvSpPr>
        <p:spPr>
          <a:xfrm>
            <a:off x="1523999" y="1314471"/>
            <a:ext cx="9144001" cy="1477328"/>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1. </a:t>
            </a:r>
            <a:r>
              <a:rPr lang="es-ES" dirty="0">
                <a:latin typeface="Verdana" panose="020B0604030504040204" pitchFamily="34" charset="0"/>
                <a:ea typeface="Verdana" panose="020B0604030504040204" pitchFamily="34" charset="0"/>
                <a:cs typeface="Verdana" panose="020B0604030504040204" pitchFamily="34" charset="0"/>
              </a:rPr>
              <a:t>En un cajón hay 12 medias negras y 12 medias azules. Cuántas medias se deben sacar sin mirar para garantizar:</a:t>
            </a:r>
          </a:p>
          <a:p>
            <a:pPr algn="just"/>
            <a:r>
              <a:rPr lang="es-ES" dirty="0">
                <a:latin typeface="Verdana" panose="020B0604030504040204" pitchFamily="34" charset="0"/>
                <a:ea typeface="Verdana" panose="020B0604030504040204" pitchFamily="34" charset="0"/>
                <a:cs typeface="Verdana" panose="020B0604030504040204" pitchFamily="34" charset="0"/>
              </a:rPr>
              <a:t>	</a:t>
            </a:r>
            <a:r>
              <a:rPr lang="es-ES" b="1" dirty="0">
                <a:latin typeface="Verdana" panose="020B0604030504040204" pitchFamily="34" charset="0"/>
                <a:ea typeface="Verdana" panose="020B0604030504040204" pitchFamily="34" charset="0"/>
                <a:cs typeface="Verdana" panose="020B0604030504040204" pitchFamily="34" charset="0"/>
              </a:rPr>
              <a:t>a. </a:t>
            </a:r>
            <a:r>
              <a:rPr lang="es-ES" dirty="0">
                <a:latin typeface="Verdana" panose="020B0604030504040204" pitchFamily="34" charset="0"/>
                <a:ea typeface="Verdana" panose="020B0604030504040204" pitchFamily="34" charset="0"/>
                <a:cs typeface="Verdana" panose="020B0604030504040204" pitchFamily="34" charset="0"/>
              </a:rPr>
              <a:t>Que hay por lo menos un par de igual color?</a:t>
            </a:r>
          </a:p>
          <a:p>
            <a:pPr algn="just"/>
            <a:r>
              <a:rPr lang="es-ES" dirty="0">
                <a:latin typeface="Verdana" panose="020B0604030504040204" pitchFamily="34" charset="0"/>
                <a:ea typeface="Verdana" panose="020B0604030504040204" pitchFamily="34" charset="0"/>
                <a:cs typeface="Verdana" panose="020B0604030504040204" pitchFamily="34" charset="0"/>
              </a:rPr>
              <a:t>	</a:t>
            </a:r>
            <a:r>
              <a:rPr lang="es-ES" b="1" dirty="0">
                <a:latin typeface="Verdana" panose="020B0604030504040204" pitchFamily="34" charset="0"/>
                <a:ea typeface="Verdana" panose="020B0604030504040204" pitchFamily="34" charset="0"/>
                <a:cs typeface="Verdana" panose="020B0604030504040204" pitchFamily="34" charset="0"/>
              </a:rPr>
              <a:t>b. </a:t>
            </a:r>
            <a:r>
              <a:rPr lang="es-ES" dirty="0">
                <a:latin typeface="Verdana" panose="020B0604030504040204" pitchFamily="34" charset="0"/>
                <a:ea typeface="Verdana" panose="020B0604030504040204" pitchFamily="34" charset="0"/>
                <a:cs typeface="Verdana" panose="020B0604030504040204" pitchFamily="34" charset="0"/>
              </a:rPr>
              <a:t>Que hay por lo menos un par de medias negras</a:t>
            </a:r>
          </a:p>
          <a:p>
            <a:pPr algn="just"/>
            <a:r>
              <a:rPr lang="es-ES" dirty="0">
                <a:latin typeface="Verdana" panose="020B0604030504040204" pitchFamily="34" charset="0"/>
                <a:ea typeface="Verdana" panose="020B0604030504040204" pitchFamily="34" charset="0"/>
                <a:cs typeface="Verdana" panose="020B0604030504040204" pitchFamily="34" charset="0"/>
              </a:rPr>
              <a:t>	</a:t>
            </a:r>
            <a:r>
              <a:rPr lang="es-ES" b="1" dirty="0">
                <a:latin typeface="Verdana" panose="020B0604030504040204" pitchFamily="34" charset="0"/>
                <a:ea typeface="Verdana" panose="020B0604030504040204" pitchFamily="34" charset="0"/>
                <a:cs typeface="Verdana" panose="020B0604030504040204" pitchFamily="34" charset="0"/>
              </a:rPr>
              <a:t>c. </a:t>
            </a:r>
            <a:r>
              <a:rPr lang="es-ES" dirty="0">
                <a:latin typeface="Verdana" panose="020B0604030504040204" pitchFamily="34" charset="0"/>
                <a:ea typeface="Verdana" panose="020B0604030504040204" pitchFamily="34" charset="0"/>
                <a:cs typeface="Verdana" panose="020B0604030504040204" pitchFamily="34" charset="0"/>
              </a:rPr>
              <a:t>Que se saque un par de cada color</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EA007D01-1D51-5056-658C-23A22CEC1121}"/>
              </a:ext>
            </a:extLst>
          </p:cNvPr>
          <p:cNvSpPr txBox="1"/>
          <p:nvPr/>
        </p:nvSpPr>
        <p:spPr>
          <a:xfrm>
            <a:off x="1523996" y="3017815"/>
            <a:ext cx="9144001"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2. </a:t>
            </a:r>
            <a:r>
              <a:rPr lang="es-ES" dirty="0">
                <a:latin typeface="Verdana" panose="020B0604030504040204" pitchFamily="34" charset="0"/>
                <a:ea typeface="Verdana" panose="020B0604030504040204" pitchFamily="34" charset="0"/>
                <a:cs typeface="Verdana" panose="020B0604030504040204" pitchFamily="34" charset="0"/>
              </a:rPr>
              <a:t>Demuestre que en un grupo de 235 niños hay al menos tres que tienen la misma estatura, si no hay niños con estatura menor a 30 cm ni mayor a 140. </a:t>
            </a:r>
          </a:p>
        </p:txBody>
      </p:sp>
      <p:sp>
        <p:nvSpPr>
          <p:cNvPr id="10" name="CuadroTexto 9">
            <a:extLst>
              <a:ext uri="{FF2B5EF4-FFF2-40B4-BE49-F238E27FC236}">
                <a16:creationId xmlns:a16="http://schemas.microsoft.com/office/drawing/2014/main" id="{4F12B9B3-F08A-0C6D-EFF4-07270F1406EB}"/>
              </a:ext>
            </a:extLst>
          </p:cNvPr>
          <p:cNvSpPr txBox="1"/>
          <p:nvPr/>
        </p:nvSpPr>
        <p:spPr>
          <a:xfrm>
            <a:off x="1523997" y="4167162"/>
            <a:ext cx="9144001" cy="1754326"/>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3. </a:t>
            </a:r>
            <a:r>
              <a:rPr lang="es-ES" dirty="0">
                <a:latin typeface="Verdana" panose="020B0604030504040204" pitchFamily="34" charset="0"/>
                <a:ea typeface="Verdana" panose="020B0604030504040204" pitchFamily="34" charset="0"/>
                <a:cs typeface="Verdana" panose="020B0604030504040204" pitchFamily="34" charset="0"/>
              </a:rPr>
              <a:t>Una bolsa contiene 10 bolas rojas y 10 bolas azules, una mujer selecciona bolas al azar sin verlas.</a:t>
            </a:r>
          </a:p>
          <a:p>
            <a:pPr algn="just"/>
            <a:r>
              <a:rPr lang="es-ES" dirty="0">
                <a:latin typeface="Verdana" panose="020B0604030504040204" pitchFamily="34" charset="0"/>
                <a:ea typeface="Verdana" panose="020B0604030504040204" pitchFamily="34" charset="0"/>
                <a:cs typeface="Verdana" panose="020B0604030504040204" pitchFamily="34" charset="0"/>
              </a:rPr>
              <a:t>	</a:t>
            </a:r>
            <a:r>
              <a:rPr lang="es-ES" b="1" dirty="0">
                <a:latin typeface="Verdana" panose="020B0604030504040204" pitchFamily="34" charset="0"/>
                <a:ea typeface="Verdana" panose="020B0604030504040204" pitchFamily="34" charset="0"/>
                <a:cs typeface="Verdana" panose="020B0604030504040204" pitchFamily="34" charset="0"/>
              </a:rPr>
              <a:t>a. </a:t>
            </a:r>
            <a:r>
              <a:rPr lang="es-ES" dirty="0">
                <a:latin typeface="Verdana" panose="020B0604030504040204" pitchFamily="34" charset="0"/>
                <a:ea typeface="Verdana" panose="020B0604030504040204" pitchFamily="34" charset="0"/>
                <a:cs typeface="Verdana" panose="020B0604030504040204" pitchFamily="34" charset="0"/>
              </a:rPr>
              <a:t>Cuántas bolas debe seleccionar para asegurar que tiene al menos 	    3 bolas del mismo color?</a:t>
            </a:r>
          </a:p>
          <a:p>
            <a:pPr algn="just"/>
            <a:r>
              <a:rPr lang="es-ES" dirty="0">
                <a:latin typeface="Verdana" panose="020B0604030504040204" pitchFamily="34" charset="0"/>
                <a:ea typeface="Verdana" panose="020B0604030504040204" pitchFamily="34" charset="0"/>
                <a:cs typeface="Verdana" panose="020B0604030504040204" pitchFamily="34" charset="0"/>
              </a:rPr>
              <a:t>	</a:t>
            </a:r>
            <a:r>
              <a:rPr lang="es-ES" b="1" dirty="0">
                <a:latin typeface="Verdana" panose="020B0604030504040204" pitchFamily="34" charset="0"/>
                <a:ea typeface="Verdana" panose="020B0604030504040204" pitchFamily="34" charset="0"/>
                <a:cs typeface="Verdana" panose="020B0604030504040204" pitchFamily="34" charset="0"/>
              </a:rPr>
              <a:t>b. </a:t>
            </a:r>
            <a:r>
              <a:rPr lang="es-ES" dirty="0">
                <a:latin typeface="Verdana" panose="020B0604030504040204" pitchFamily="34" charset="0"/>
                <a:ea typeface="Verdana" panose="020B0604030504040204" pitchFamily="34" charset="0"/>
                <a:cs typeface="Verdana" panose="020B0604030504040204" pitchFamily="34" charset="0"/>
              </a:rPr>
              <a:t>Cuántas debe seleccionar para estar segura de que tiene 3 bolas       	    azules?</a:t>
            </a:r>
          </a:p>
        </p:txBody>
      </p:sp>
    </p:spTree>
    <p:extLst>
      <p:ext uri="{BB962C8B-B14F-4D97-AF65-F5344CB8AC3E}">
        <p14:creationId xmlns:p14="http://schemas.microsoft.com/office/powerpoint/2010/main" val="294338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EJERCICIOS ADICIONALES</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2" name="object 11">
            <a:extLst>
              <a:ext uri="{FF2B5EF4-FFF2-40B4-BE49-F238E27FC236}">
                <a16:creationId xmlns:a16="http://schemas.microsoft.com/office/drawing/2014/main" id="{D1E71BA3-0675-B296-2888-D769D678B9D5}"/>
              </a:ext>
            </a:extLst>
          </p:cNvPr>
          <p:cNvSpPr/>
          <p:nvPr/>
        </p:nvSpPr>
        <p:spPr>
          <a:xfrm>
            <a:off x="1523999" y="6113596"/>
            <a:ext cx="9247601"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8" name="CuadroTexto 7">
            <a:extLst>
              <a:ext uri="{FF2B5EF4-FFF2-40B4-BE49-F238E27FC236}">
                <a16:creationId xmlns:a16="http://schemas.microsoft.com/office/drawing/2014/main" id="{EA007D01-1D51-5056-658C-23A22CEC1121}"/>
              </a:ext>
            </a:extLst>
          </p:cNvPr>
          <p:cNvSpPr txBox="1"/>
          <p:nvPr/>
        </p:nvSpPr>
        <p:spPr>
          <a:xfrm>
            <a:off x="1311384" y="1645874"/>
            <a:ext cx="9144001"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4. </a:t>
            </a:r>
            <a:r>
              <a:rPr lang="es-ES" dirty="0">
                <a:latin typeface="Verdana" panose="020B0604030504040204" pitchFamily="34" charset="0"/>
                <a:ea typeface="Verdana" panose="020B0604030504040204" pitchFamily="34" charset="0"/>
                <a:cs typeface="Verdana" panose="020B0604030504040204" pitchFamily="34" charset="0"/>
              </a:rPr>
              <a:t>¿Cuántas personas debe haber en una reunión para asegurar que hay 4 del mismo signo del zodiaco? ¿Cuántas para asegurar que 2 cumplen el mismo día del mes? ¿Cuántas para asegurar que hay 10 del mismo sexo?</a:t>
            </a:r>
          </a:p>
        </p:txBody>
      </p:sp>
      <p:sp>
        <p:nvSpPr>
          <p:cNvPr id="10" name="CuadroTexto 9">
            <a:extLst>
              <a:ext uri="{FF2B5EF4-FFF2-40B4-BE49-F238E27FC236}">
                <a16:creationId xmlns:a16="http://schemas.microsoft.com/office/drawing/2014/main" id="{4F12B9B3-F08A-0C6D-EFF4-07270F1406EB}"/>
              </a:ext>
            </a:extLst>
          </p:cNvPr>
          <p:cNvSpPr txBox="1"/>
          <p:nvPr/>
        </p:nvSpPr>
        <p:spPr>
          <a:xfrm>
            <a:off x="1311385" y="3278027"/>
            <a:ext cx="9144001"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5. </a:t>
            </a:r>
            <a:r>
              <a:rPr lang="es-ES" dirty="0">
                <a:latin typeface="Verdana" panose="020B0604030504040204" pitchFamily="34" charset="0"/>
                <a:ea typeface="Verdana" panose="020B0604030504040204" pitchFamily="34" charset="0"/>
                <a:cs typeface="Verdana" panose="020B0604030504040204" pitchFamily="34" charset="0"/>
              </a:rPr>
              <a:t>Demostrar que en un grupo de 29 niños al menos 5 nacieron el mismo día de la semana. Para el mismo caso demostrar que al menos 2 nacieron a la misma hora.</a:t>
            </a:r>
            <a:endParaRPr lang="es-ES" b="1" dirty="0">
              <a:latin typeface="Verdana" panose="020B0604030504040204" pitchFamily="34" charset="0"/>
              <a:ea typeface="Verdana" panose="020B0604030504040204" pitchFamily="34" charset="0"/>
              <a:cs typeface="Verdana" panose="020B0604030504040204" pitchFamily="34" charset="0"/>
            </a:endParaRPr>
          </a:p>
        </p:txBody>
      </p:sp>
      <p:sp>
        <p:nvSpPr>
          <p:cNvPr id="3" name="CuadroTexto 2">
            <a:extLst>
              <a:ext uri="{FF2B5EF4-FFF2-40B4-BE49-F238E27FC236}">
                <a16:creationId xmlns:a16="http://schemas.microsoft.com/office/drawing/2014/main" id="{B5512A8C-5EE0-204C-C2C4-46913DDA2CE5}"/>
              </a:ext>
            </a:extLst>
          </p:cNvPr>
          <p:cNvSpPr txBox="1"/>
          <p:nvPr/>
        </p:nvSpPr>
        <p:spPr>
          <a:xfrm>
            <a:off x="1311384" y="4695673"/>
            <a:ext cx="9144001" cy="1200329"/>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6. </a:t>
            </a:r>
            <a:r>
              <a:rPr lang="es-ES" dirty="0">
                <a:latin typeface="Verdana" panose="020B0604030504040204" pitchFamily="34" charset="0"/>
                <a:ea typeface="Verdana" panose="020B0604030504040204" pitchFamily="34" charset="0"/>
                <a:cs typeface="Verdana" panose="020B0604030504040204" pitchFamily="34" charset="0"/>
              </a:rPr>
              <a:t>En una clase se imparten 5 asignaturas con posibles calificaciones cada una: No aprobado y aprobado. En la clase hay 70 alumnos demostrar que hay al menos 3 estudiantes que han aprobado exactamente las mismas asignaturas.</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88442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anim calcmode="lin" valueType="num">
                                      <p:cBhvr additive="base">
                                        <p:cTn id="1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7352</TotalTime>
  <Words>1925</Words>
  <Application>Microsoft Office PowerPoint</Application>
  <PresentationFormat>Panorámica</PresentationFormat>
  <Paragraphs>145</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Calibri Light</vt:lpstr>
      <vt:lpstr>Söhne</vt:lpstr>
      <vt:lpstr>Verdana</vt:lpstr>
      <vt:lpstr>Tema de Office</vt:lpstr>
      <vt:lpstr>Luis Germán Toro Pareja Ingeniero de Sistemas Magister en Seguridad Informática Universidad del Valle   </vt:lpstr>
      <vt:lpstr>Clase No. 3</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Luis Toro</dc:creator>
  <cp:lastModifiedBy>Luis German  Toro Pareja</cp:lastModifiedBy>
  <cp:revision>119</cp:revision>
  <dcterms:created xsi:type="dcterms:W3CDTF">2019-05-10T21:13:59Z</dcterms:created>
  <dcterms:modified xsi:type="dcterms:W3CDTF">2024-02-27T21:11:33Z</dcterms:modified>
</cp:coreProperties>
</file>